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3891200" cy="32918400"/>
  <p:notesSz cx="6858000" cy="9144000"/>
  <p:defaultText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474">
          <p15:clr>
            <a:srgbClr val="A4A3A4"/>
          </p15:clr>
        </p15:guide>
        <p15:guide id="2" pos="2678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751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4E7993-7726-E668-8876-1B609FBD8A92}" v="290" dt="2025-01-26T01:55:37.405"/>
    <p1510:client id="{16AFFEF4-6509-49A3-557B-37ED23F6AF62}" v="1049" dt="2025-01-27T23:35:28.609"/>
    <p1510:client id="{435E6D32-19FD-2EAE-2074-7C3D6C11C354}" v="314" dt="2025-01-27T17:22:46.9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8474"/>
        <p:guide pos="26788"/>
      </p:guideLst>
    </p:cSldViewPr>
  </p:slide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27EC84-00D4-4415-B4D9-BE1BE8A514CB}" type="datetimeFigureOut">
              <a:rPr lang="en-US" smtClean="0"/>
              <a:t>1/28/2025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CB9BFB-5718-483C-9A7D-F8D1463AF3D9}" type="slidenum">
              <a:rPr lang="en-US" smtClean="0"/>
              <a:t>‹#›</a:t>
            </a:fld>
            <a:endParaRPr lang="en-US"/>
          </a:p>
        </p:txBody>
      </p:sp>
    </p:spTree>
    <p:extLst>
      <p:ext uri="{BB962C8B-B14F-4D97-AF65-F5344CB8AC3E}">
        <p14:creationId xmlns:p14="http://schemas.microsoft.com/office/powerpoint/2010/main" val="1861657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CB9BFB-5718-483C-9A7D-F8D1463AF3D9}" type="slidenum">
              <a:rPr lang="en-US" smtClean="0"/>
              <a:t>1</a:t>
            </a:fld>
            <a:endParaRPr lang="en-US"/>
          </a:p>
        </p:txBody>
      </p:sp>
    </p:spTree>
    <p:extLst>
      <p:ext uri="{BB962C8B-B14F-4D97-AF65-F5344CB8AC3E}">
        <p14:creationId xmlns:p14="http://schemas.microsoft.com/office/powerpoint/2010/main" val="2286634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a:t>Click to edit Master title style</a:t>
            </a:r>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FDD7564-EFFA-A944-A1A7-83D830D9608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2C1767-5E94-FB4E-B4C4-872BBD8B6F27}" type="slidenum">
              <a:rPr lang="en-US" smtClean="0"/>
              <a:t>‹#›</a:t>
            </a:fld>
            <a:endParaRPr lang="en-US"/>
          </a:p>
        </p:txBody>
      </p:sp>
    </p:spTree>
    <p:extLst>
      <p:ext uri="{BB962C8B-B14F-4D97-AF65-F5344CB8AC3E}">
        <p14:creationId xmlns:p14="http://schemas.microsoft.com/office/powerpoint/2010/main" val="108563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DD7564-EFFA-A944-A1A7-83D830D9608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2C1767-5E94-FB4E-B4C4-872BBD8B6F27}" type="slidenum">
              <a:rPr lang="en-US" smtClean="0"/>
              <a:t>‹#›</a:t>
            </a:fld>
            <a:endParaRPr lang="en-US"/>
          </a:p>
        </p:txBody>
      </p:sp>
    </p:spTree>
    <p:extLst>
      <p:ext uri="{BB962C8B-B14F-4D97-AF65-F5344CB8AC3E}">
        <p14:creationId xmlns:p14="http://schemas.microsoft.com/office/powerpoint/2010/main" val="2441614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600">
                <a:solidFill>
                  <a:schemeClr val="tx1">
                    <a:tint val="75000"/>
                  </a:schemeClr>
                </a:solidFill>
              </a:defRPr>
            </a:lvl3pPr>
            <a:lvl4pPr marL="6583680" indent="0">
              <a:buNone/>
              <a:defRPr sz="6800">
                <a:solidFill>
                  <a:schemeClr val="tx1">
                    <a:tint val="75000"/>
                  </a:schemeClr>
                </a:solidFill>
              </a:defRPr>
            </a:lvl4pPr>
            <a:lvl5pPr marL="8778240" indent="0">
              <a:buNone/>
              <a:defRPr sz="6800">
                <a:solidFill>
                  <a:schemeClr val="tx1">
                    <a:tint val="75000"/>
                  </a:schemeClr>
                </a:solidFill>
              </a:defRPr>
            </a:lvl5pPr>
            <a:lvl6pPr marL="10972800" indent="0">
              <a:buNone/>
              <a:defRPr sz="6800">
                <a:solidFill>
                  <a:schemeClr val="tx1">
                    <a:tint val="75000"/>
                  </a:schemeClr>
                </a:solidFill>
              </a:defRPr>
            </a:lvl6pPr>
            <a:lvl7pPr marL="13167360" indent="0">
              <a:buNone/>
              <a:defRPr sz="6800">
                <a:solidFill>
                  <a:schemeClr val="tx1">
                    <a:tint val="75000"/>
                  </a:schemeClr>
                </a:solidFill>
              </a:defRPr>
            </a:lvl7pPr>
            <a:lvl8pPr marL="15361920" indent="0">
              <a:buNone/>
              <a:defRPr sz="6800">
                <a:solidFill>
                  <a:schemeClr val="tx1">
                    <a:tint val="75000"/>
                  </a:schemeClr>
                </a:solidFill>
              </a:defRPr>
            </a:lvl8pPr>
            <a:lvl9pPr marL="17556480" indent="0">
              <a:buNone/>
              <a:defRPr sz="6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DD7564-EFFA-A944-A1A7-83D830D9608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2C1767-5E94-FB4E-B4C4-872BBD8B6F27}" type="slidenum">
              <a:rPr lang="en-US" smtClean="0"/>
              <a:t>‹#›</a:t>
            </a:fld>
            <a:endParaRPr lang="en-US"/>
          </a:p>
        </p:txBody>
      </p:sp>
    </p:spTree>
    <p:extLst>
      <p:ext uri="{BB962C8B-B14F-4D97-AF65-F5344CB8AC3E}">
        <p14:creationId xmlns:p14="http://schemas.microsoft.com/office/powerpoint/2010/main" val="2920120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4560" y="7680963"/>
            <a:ext cx="19385280" cy="21724622"/>
          </a:xfrm>
        </p:spPr>
        <p:txBody>
          <a:bodyPr/>
          <a:lstStyle>
            <a:lvl1pPr>
              <a:defRPr sz="13400"/>
            </a:lvl1pPr>
            <a:lvl2pPr>
              <a:defRPr sz="116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311360" y="7680963"/>
            <a:ext cx="19385280" cy="21724622"/>
          </a:xfrm>
        </p:spPr>
        <p:txBody>
          <a:bodyPr/>
          <a:lstStyle>
            <a:lvl1pPr>
              <a:defRPr sz="13400"/>
            </a:lvl1pPr>
            <a:lvl2pPr>
              <a:defRPr sz="116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DD7564-EFFA-A944-A1A7-83D830D96081}"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2C1767-5E94-FB4E-B4C4-872BBD8B6F27}" type="slidenum">
              <a:rPr lang="en-US" smtClean="0"/>
              <a:t>‹#›</a:t>
            </a:fld>
            <a:endParaRPr lang="en-US"/>
          </a:p>
        </p:txBody>
      </p:sp>
    </p:spTree>
    <p:extLst>
      <p:ext uri="{BB962C8B-B14F-4D97-AF65-F5344CB8AC3E}">
        <p14:creationId xmlns:p14="http://schemas.microsoft.com/office/powerpoint/2010/main" val="1469430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1" y="7368543"/>
            <a:ext cx="19392902" cy="3070858"/>
          </a:xfrm>
        </p:spPr>
        <p:txBody>
          <a:bodyPr anchor="b"/>
          <a:lstStyle>
            <a:lvl1pPr marL="0" indent="0">
              <a:buNone/>
              <a:defRPr sz="11600" b="1"/>
            </a:lvl1pPr>
            <a:lvl2pPr marL="2194560" indent="0">
              <a:buNone/>
              <a:defRPr sz="9600" b="1"/>
            </a:lvl2pPr>
            <a:lvl3pPr marL="4389120" indent="0">
              <a:buNone/>
              <a:defRPr sz="8600" b="1"/>
            </a:lvl3pPr>
            <a:lvl4pPr marL="6583680" indent="0">
              <a:buNone/>
              <a:defRPr sz="7600" b="1"/>
            </a:lvl4pPr>
            <a:lvl5pPr marL="8778240" indent="0">
              <a:buNone/>
              <a:defRPr sz="7600" b="1"/>
            </a:lvl5pPr>
            <a:lvl6pPr marL="10972800" indent="0">
              <a:buNone/>
              <a:defRPr sz="7600" b="1"/>
            </a:lvl6pPr>
            <a:lvl7pPr marL="13167360" indent="0">
              <a:buNone/>
              <a:defRPr sz="7600" b="1"/>
            </a:lvl7pPr>
            <a:lvl8pPr marL="15361920" indent="0">
              <a:buNone/>
              <a:defRPr sz="7600" b="1"/>
            </a:lvl8pPr>
            <a:lvl9pPr marL="17556480" indent="0">
              <a:buNone/>
              <a:defRPr sz="7600" b="1"/>
            </a:lvl9pPr>
          </a:lstStyle>
          <a:p>
            <a:pPr lvl="0"/>
            <a:r>
              <a:rPr lang="en-US"/>
              <a:t>Click to edit Master text styles</a:t>
            </a:r>
          </a:p>
        </p:txBody>
      </p:sp>
      <p:sp>
        <p:nvSpPr>
          <p:cNvPr id="4" name="Content Placeholder 3"/>
          <p:cNvSpPr>
            <a:spLocks noGrp="1"/>
          </p:cNvSpPr>
          <p:nvPr>
            <p:ph sz="half" idx="2"/>
          </p:nvPr>
        </p:nvSpPr>
        <p:spPr>
          <a:xfrm>
            <a:off x="2194561" y="10439401"/>
            <a:ext cx="19392902" cy="18966182"/>
          </a:xfrm>
        </p:spPr>
        <p:txBody>
          <a:bodyPr/>
          <a:lstStyle>
            <a:lvl1pPr>
              <a:defRPr sz="11600"/>
            </a:lvl1pPr>
            <a:lvl2pPr>
              <a:defRPr sz="9600"/>
            </a:lvl2pPr>
            <a:lvl3pPr>
              <a:defRPr sz="8600"/>
            </a:lvl3pPr>
            <a:lvl4pPr>
              <a:defRPr sz="7600"/>
            </a:lvl4pPr>
            <a:lvl5pPr>
              <a:defRPr sz="7600"/>
            </a:lvl5pPr>
            <a:lvl6pPr>
              <a:defRPr sz="7600"/>
            </a:lvl6pPr>
            <a:lvl7pPr>
              <a:defRPr sz="7600"/>
            </a:lvl7pPr>
            <a:lvl8pPr>
              <a:defRPr sz="7600"/>
            </a:lvl8pPr>
            <a:lvl9pPr>
              <a:defRPr sz="7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2" y="7368543"/>
            <a:ext cx="19400520" cy="3070858"/>
          </a:xfrm>
        </p:spPr>
        <p:txBody>
          <a:bodyPr anchor="b"/>
          <a:lstStyle>
            <a:lvl1pPr marL="0" indent="0">
              <a:buNone/>
              <a:defRPr sz="11600" b="1"/>
            </a:lvl1pPr>
            <a:lvl2pPr marL="2194560" indent="0">
              <a:buNone/>
              <a:defRPr sz="9600" b="1"/>
            </a:lvl2pPr>
            <a:lvl3pPr marL="4389120" indent="0">
              <a:buNone/>
              <a:defRPr sz="8600" b="1"/>
            </a:lvl3pPr>
            <a:lvl4pPr marL="6583680" indent="0">
              <a:buNone/>
              <a:defRPr sz="7600" b="1"/>
            </a:lvl4pPr>
            <a:lvl5pPr marL="8778240" indent="0">
              <a:buNone/>
              <a:defRPr sz="7600" b="1"/>
            </a:lvl5pPr>
            <a:lvl6pPr marL="10972800" indent="0">
              <a:buNone/>
              <a:defRPr sz="7600" b="1"/>
            </a:lvl6pPr>
            <a:lvl7pPr marL="13167360" indent="0">
              <a:buNone/>
              <a:defRPr sz="7600" b="1"/>
            </a:lvl7pPr>
            <a:lvl8pPr marL="15361920" indent="0">
              <a:buNone/>
              <a:defRPr sz="7600" b="1"/>
            </a:lvl8pPr>
            <a:lvl9pPr marL="17556480" indent="0">
              <a:buNone/>
              <a:defRPr sz="7600" b="1"/>
            </a:lvl9pPr>
          </a:lstStyle>
          <a:p>
            <a:pPr lvl="0"/>
            <a:r>
              <a:rPr lang="en-US"/>
              <a:t>Click to edit Master text styles</a:t>
            </a:r>
          </a:p>
        </p:txBody>
      </p:sp>
      <p:sp>
        <p:nvSpPr>
          <p:cNvPr id="6" name="Content Placeholder 5"/>
          <p:cNvSpPr>
            <a:spLocks noGrp="1"/>
          </p:cNvSpPr>
          <p:nvPr>
            <p:ph sz="quarter" idx="4"/>
          </p:nvPr>
        </p:nvSpPr>
        <p:spPr>
          <a:xfrm>
            <a:off x="22296122" y="10439401"/>
            <a:ext cx="19400520" cy="18966182"/>
          </a:xfrm>
        </p:spPr>
        <p:txBody>
          <a:bodyPr/>
          <a:lstStyle>
            <a:lvl1pPr>
              <a:defRPr sz="11600"/>
            </a:lvl1pPr>
            <a:lvl2pPr>
              <a:defRPr sz="9600"/>
            </a:lvl2pPr>
            <a:lvl3pPr>
              <a:defRPr sz="8600"/>
            </a:lvl3pPr>
            <a:lvl4pPr>
              <a:defRPr sz="7600"/>
            </a:lvl4pPr>
            <a:lvl5pPr>
              <a:defRPr sz="7600"/>
            </a:lvl5pPr>
            <a:lvl6pPr>
              <a:defRPr sz="7600"/>
            </a:lvl6pPr>
            <a:lvl7pPr>
              <a:defRPr sz="7600"/>
            </a:lvl7pPr>
            <a:lvl8pPr>
              <a:defRPr sz="7600"/>
            </a:lvl8pPr>
            <a:lvl9pPr>
              <a:defRPr sz="7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DD7564-EFFA-A944-A1A7-83D830D96081}"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2C1767-5E94-FB4E-B4C4-872BBD8B6F27}" type="slidenum">
              <a:rPr lang="en-US" smtClean="0"/>
              <a:t>‹#›</a:t>
            </a:fld>
            <a:endParaRPr lang="en-US"/>
          </a:p>
        </p:txBody>
      </p:sp>
    </p:spTree>
    <p:extLst>
      <p:ext uri="{BB962C8B-B14F-4D97-AF65-F5344CB8AC3E}">
        <p14:creationId xmlns:p14="http://schemas.microsoft.com/office/powerpoint/2010/main" val="4266844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DD7564-EFFA-A944-A1A7-83D830D96081}"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2C1767-5E94-FB4E-B4C4-872BBD8B6F27}" type="slidenum">
              <a:rPr lang="en-US" smtClean="0"/>
              <a:t>‹#›</a:t>
            </a:fld>
            <a:endParaRPr lang="en-US"/>
          </a:p>
        </p:txBody>
      </p:sp>
    </p:spTree>
    <p:extLst>
      <p:ext uri="{BB962C8B-B14F-4D97-AF65-F5344CB8AC3E}">
        <p14:creationId xmlns:p14="http://schemas.microsoft.com/office/powerpoint/2010/main" val="1086132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DD7564-EFFA-A944-A1A7-83D830D96081}"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2C1767-5E94-FB4E-B4C4-872BBD8B6F27}" type="slidenum">
              <a:rPr lang="en-US" smtClean="0"/>
              <a:t>‹#›</a:t>
            </a:fld>
            <a:endParaRPr lang="en-US"/>
          </a:p>
        </p:txBody>
      </p:sp>
    </p:spTree>
    <p:extLst>
      <p:ext uri="{BB962C8B-B14F-4D97-AF65-F5344CB8AC3E}">
        <p14:creationId xmlns:p14="http://schemas.microsoft.com/office/powerpoint/2010/main" val="4266114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6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800"/>
            </a:lvl1pPr>
            <a:lvl2pPr marL="2194560" indent="0">
              <a:buNone/>
              <a:defRPr sz="5800"/>
            </a:lvl2pPr>
            <a:lvl3pPr marL="4389120" indent="0">
              <a:buNone/>
              <a:defRPr sz="4800"/>
            </a:lvl3pPr>
            <a:lvl4pPr marL="6583680" indent="0">
              <a:buNone/>
              <a:defRPr sz="4400"/>
            </a:lvl4pPr>
            <a:lvl5pPr marL="8778240" indent="0">
              <a:buNone/>
              <a:defRPr sz="4400"/>
            </a:lvl5pPr>
            <a:lvl6pPr marL="10972800" indent="0">
              <a:buNone/>
              <a:defRPr sz="4400"/>
            </a:lvl6pPr>
            <a:lvl7pPr marL="13167360" indent="0">
              <a:buNone/>
              <a:defRPr sz="4400"/>
            </a:lvl7pPr>
            <a:lvl8pPr marL="15361920" indent="0">
              <a:buNone/>
              <a:defRPr sz="4400"/>
            </a:lvl8pPr>
            <a:lvl9pPr marL="17556480" indent="0">
              <a:buNone/>
              <a:defRPr sz="4400"/>
            </a:lvl9pPr>
          </a:lstStyle>
          <a:p>
            <a:pPr lvl="0"/>
            <a:r>
              <a:rPr lang="en-US"/>
              <a:t>Click to edit Master text styles</a:t>
            </a:r>
          </a:p>
        </p:txBody>
      </p:sp>
      <p:sp>
        <p:nvSpPr>
          <p:cNvPr id="5" name="Date Placeholder 4"/>
          <p:cNvSpPr>
            <a:spLocks noGrp="1"/>
          </p:cNvSpPr>
          <p:nvPr>
            <p:ph type="dt" sz="half" idx="10"/>
          </p:nvPr>
        </p:nvSpPr>
        <p:spPr/>
        <p:txBody>
          <a:bodyPr/>
          <a:lstStyle/>
          <a:p>
            <a:fld id="{DFDD7564-EFFA-A944-A1A7-83D830D96081}"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2C1767-5E94-FB4E-B4C4-872BBD8B6F27}" type="slidenum">
              <a:rPr lang="en-US" smtClean="0"/>
              <a:t>‹#›</a:t>
            </a:fld>
            <a:endParaRPr lang="en-US"/>
          </a:p>
        </p:txBody>
      </p:sp>
    </p:spTree>
    <p:extLst>
      <p:ext uri="{BB962C8B-B14F-4D97-AF65-F5344CB8AC3E}">
        <p14:creationId xmlns:p14="http://schemas.microsoft.com/office/powerpoint/2010/main" val="2766507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1"/>
            <a:ext cx="26334720" cy="2720342"/>
          </a:xfr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p:spPr>
        <p:txBody>
          <a:bodyPr/>
          <a:lstStyle>
            <a:lvl1pPr marL="0" indent="0">
              <a:buNone/>
              <a:defRPr sz="15400"/>
            </a:lvl1pPr>
            <a:lvl2pPr marL="2194560" indent="0">
              <a:buNone/>
              <a:defRPr sz="13400"/>
            </a:lvl2pPr>
            <a:lvl3pPr marL="4389120" indent="0">
              <a:buNone/>
              <a:defRPr sz="116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3"/>
            <a:ext cx="26334720" cy="3863338"/>
          </a:xfrm>
        </p:spPr>
        <p:txBody>
          <a:bodyPr/>
          <a:lstStyle>
            <a:lvl1pPr marL="0" indent="0">
              <a:buNone/>
              <a:defRPr sz="6800"/>
            </a:lvl1pPr>
            <a:lvl2pPr marL="2194560" indent="0">
              <a:buNone/>
              <a:defRPr sz="5800"/>
            </a:lvl2pPr>
            <a:lvl3pPr marL="4389120" indent="0">
              <a:buNone/>
              <a:defRPr sz="4800"/>
            </a:lvl3pPr>
            <a:lvl4pPr marL="6583680" indent="0">
              <a:buNone/>
              <a:defRPr sz="4400"/>
            </a:lvl4pPr>
            <a:lvl5pPr marL="8778240" indent="0">
              <a:buNone/>
              <a:defRPr sz="4400"/>
            </a:lvl5pPr>
            <a:lvl6pPr marL="10972800" indent="0">
              <a:buNone/>
              <a:defRPr sz="4400"/>
            </a:lvl6pPr>
            <a:lvl7pPr marL="13167360" indent="0">
              <a:buNone/>
              <a:defRPr sz="4400"/>
            </a:lvl7pPr>
            <a:lvl8pPr marL="15361920" indent="0">
              <a:buNone/>
              <a:defRPr sz="4400"/>
            </a:lvl8pPr>
            <a:lvl9pPr marL="17556480" indent="0">
              <a:buNone/>
              <a:defRPr sz="4400"/>
            </a:lvl9pPr>
          </a:lstStyle>
          <a:p>
            <a:pPr lvl="0"/>
            <a:r>
              <a:rPr lang="en-US"/>
              <a:t>Click to edit Master text styles</a:t>
            </a:r>
          </a:p>
        </p:txBody>
      </p:sp>
      <p:sp>
        <p:nvSpPr>
          <p:cNvPr id="5" name="Date Placeholder 4"/>
          <p:cNvSpPr>
            <a:spLocks noGrp="1"/>
          </p:cNvSpPr>
          <p:nvPr>
            <p:ph type="dt" sz="half" idx="10"/>
          </p:nvPr>
        </p:nvSpPr>
        <p:spPr/>
        <p:txBody>
          <a:bodyPr/>
          <a:lstStyle/>
          <a:p>
            <a:fld id="{DFDD7564-EFFA-A944-A1A7-83D830D96081}"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2C1767-5E94-FB4E-B4C4-872BBD8B6F27}" type="slidenum">
              <a:rPr lang="en-US" smtClean="0"/>
              <a:t>‹#›</a:t>
            </a:fld>
            <a:endParaRPr lang="en-US"/>
          </a:p>
        </p:txBody>
      </p:sp>
    </p:spTree>
    <p:extLst>
      <p:ext uri="{BB962C8B-B14F-4D97-AF65-F5344CB8AC3E}">
        <p14:creationId xmlns:p14="http://schemas.microsoft.com/office/powerpoint/2010/main" val="2657941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DD7564-EFFA-A944-A1A7-83D830D9608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2C1767-5E94-FB4E-B4C4-872BBD8B6F27}" type="slidenum">
              <a:rPr lang="en-US" smtClean="0"/>
              <a:t>‹#›</a:t>
            </a:fld>
            <a:endParaRPr lang="en-US"/>
          </a:p>
        </p:txBody>
      </p:sp>
    </p:spTree>
    <p:extLst>
      <p:ext uri="{BB962C8B-B14F-4D97-AF65-F5344CB8AC3E}">
        <p14:creationId xmlns:p14="http://schemas.microsoft.com/office/powerpoint/2010/main" val="4051852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0" y="1318264"/>
            <a:ext cx="9875520" cy="280873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4560" y="1318264"/>
            <a:ext cx="28895040" cy="280873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DD7564-EFFA-A944-A1A7-83D830D9608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2C1767-5E94-FB4E-B4C4-872BBD8B6F27}" type="slidenum">
              <a:rPr lang="en-US" smtClean="0"/>
              <a:t>‹#›</a:t>
            </a:fld>
            <a:endParaRPr lang="en-US"/>
          </a:p>
        </p:txBody>
      </p:sp>
    </p:spTree>
    <p:extLst>
      <p:ext uri="{BB962C8B-B14F-4D97-AF65-F5344CB8AC3E}">
        <p14:creationId xmlns:p14="http://schemas.microsoft.com/office/powerpoint/2010/main" val="1996601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DFDD7564-EFFA-A944-A1A7-83D830D96081}" type="datetimeFigureOut">
              <a:rPr lang="en-US" smtClean="0"/>
              <a:t>1/28/2025</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462C1767-5E94-FB4E-B4C4-872BBD8B6F27}" type="slidenum">
              <a:rPr lang="en-US" smtClean="0"/>
              <a:t>‹#›</a:t>
            </a:fld>
            <a:endParaRPr lang="en-US"/>
          </a:p>
        </p:txBody>
      </p:sp>
    </p:spTree>
    <p:extLst>
      <p:ext uri="{BB962C8B-B14F-4D97-AF65-F5344CB8AC3E}">
        <p14:creationId xmlns:p14="http://schemas.microsoft.com/office/powerpoint/2010/main" val="2994846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194560" rtl="0" eaLnBrk="1" latinLnBrk="0" hangingPunct="1">
        <a:spcBef>
          <a:spcPct val="0"/>
        </a:spcBef>
        <a:buNone/>
        <a:defRPr sz="21200" kern="1200">
          <a:solidFill>
            <a:schemeClr val="tx1"/>
          </a:solidFill>
          <a:latin typeface="+mj-lt"/>
          <a:ea typeface="+mj-ea"/>
          <a:cs typeface="+mj-cs"/>
        </a:defRPr>
      </a:lvl1pPr>
    </p:titleStyle>
    <p:bodyStyle>
      <a:lvl1pPr marL="1645920" indent="-1645920" algn="l" defTabSz="2194560" rtl="0" eaLnBrk="1" latinLnBrk="0" hangingPunct="1">
        <a:spcBef>
          <a:spcPct val="20000"/>
        </a:spcBef>
        <a:buFont typeface="Arial"/>
        <a:buChar char="•"/>
        <a:defRPr sz="15400" kern="1200">
          <a:solidFill>
            <a:schemeClr val="tx1"/>
          </a:solidFill>
          <a:latin typeface="+mn-lt"/>
          <a:ea typeface="+mn-ea"/>
          <a:cs typeface="+mn-cs"/>
        </a:defRPr>
      </a:lvl1pPr>
      <a:lvl2pPr marL="3566160" indent="-1371600" algn="l" defTabSz="2194560" rtl="0" eaLnBrk="1" latinLnBrk="0" hangingPunct="1">
        <a:spcBef>
          <a:spcPct val="20000"/>
        </a:spcBef>
        <a:buFont typeface="Arial"/>
        <a:buChar char="–"/>
        <a:defRPr sz="13400" kern="1200">
          <a:solidFill>
            <a:schemeClr val="tx1"/>
          </a:solidFill>
          <a:latin typeface="+mn-lt"/>
          <a:ea typeface="+mn-ea"/>
          <a:cs typeface="+mn-cs"/>
        </a:defRPr>
      </a:lvl2pPr>
      <a:lvl3pPr marL="5486400" indent="-1097280" algn="l" defTabSz="2194560" rtl="0" eaLnBrk="1" latinLnBrk="0" hangingPunct="1">
        <a:spcBef>
          <a:spcPct val="20000"/>
        </a:spcBef>
        <a:buFont typeface="Arial"/>
        <a:buChar char="•"/>
        <a:defRPr sz="11600" kern="1200">
          <a:solidFill>
            <a:schemeClr val="tx1"/>
          </a:solidFill>
          <a:latin typeface="+mn-lt"/>
          <a:ea typeface="+mn-ea"/>
          <a:cs typeface="+mn-cs"/>
        </a:defRPr>
      </a:lvl3pPr>
      <a:lvl4pPr marL="7680960" indent="-1097280" algn="l" defTabSz="2194560" rtl="0" eaLnBrk="1" latinLnBrk="0" hangingPunct="1">
        <a:spcBef>
          <a:spcPct val="20000"/>
        </a:spcBef>
        <a:buFont typeface="Arial"/>
        <a:buChar char="–"/>
        <a:defRPr sz="9600" kern="1200">
          <a:solidFill>
            <a:schemeClr val="tx1"/>
          </a:solidFill>
          <a:latin typeface="+mn-lt"/>
          <a:ea typeface="+mn-ea"/>
          <a:cs typeface="+mn-cs"/>
        </a:defRPr>
      </a:lvl4pPr>
      <a:lvl5pPr marL="9875520" indent="-1097280" algn="l" defTabSz="2194560" rtl="0" eaLnBrk="1" latinLnBrk="0" hangingPunct="1">
        <a:spcBef>
          <a:spcPct val="20000"/>
        </a:spcBef>
        <a:buFont typeface="Arial"/>
        <a:buChar char="»"/>
        <a:defRPr sz="9600" kern="1200">
          <a:solidFill>
            <a:schemeClr val="tx1"/>
          </a:solidFill>
          <a:latin typeface="+mn-lt"/>
          <a:ea typeface="+mn-ea"/>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image" Target="../media/image1.emf"/><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hyperlink" Target="https://www.yahboom.net/" TargetMode="External"/><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ACE5C1E3-D47A-967B-A7D6-57DA60ADB919}"/>
              </a:ext>
            </a:extLst>
          </p:cNvPr>
          <p:cNvSpPr/>
          <p:nvPr/>
        </p:nvSpPr>
        <p:spPr>
          <a:xfrm>
            <a:off x="22251475" y="5604473"/>
            <a:ext cx="10242974" cy="1213428"/>
          </a:xfrm>
          <a:prstGeom prst="rect">
            <a:avLst/>
          </a:prstGeom>
          <a:solidFill>
            <a:schemeClr val="accent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75F42DE-1743-2CE3-4C73-C062CCFEA8D0}"/>
              </a:ext>
            </a:extLst>
          </p:cNvPr>
          <p:cNvSpPr/>
          <p:nvPr/>
        </p:nvSpPr>
        <p:spPr>
          <a:xfrm>
            <a:off x="32743965" y="5609713"/>
            <a:ext cx="10625519" cy="1178827"/>
          </a:xfrm>
          <a:prstGeom prst="rect">
            <a:avLst/>
          </a:prstGeom>
          <a:solidFill>
            <a:schemeClr val="accent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C4E138B-AEA4-A0D5-D183-1903DCF7B23E}"/>
              </a:ext>
            </a:extLst>
          </p:cNvPr>
          <p:cNvSpPr/>
          <p:nvPr/>
        </p:nvSpPr>
        <p:spPr>
          <a:xfrm>
            <a:off x="11402204" y="5601577"/>
            <a:ext cx="10216145" cy="1104576"/>
          </a:xfrm>
          <a:prstGeom prst="rect">
            <a:avLst/>
          </a:prstGeom>
          <a:solidFill>
            <a:schemeClr val="accent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DA1B1CC-F96B-4F22-B306-16B79BB10082}"/>
              </a:ext>
            </a:extLst>
          </p:cNvPr>
          <p:cNvSpPr/>
          <p:nvPr/>
        </p:nvSpPr>
        <p:spPr>
          <a:xfrm>
            <a:off x="860828" y="15203031"/>
            <a:ext cx="10242974" cy="778254"/>
          </a:xfrm>
          <a:prstGeom prst="rect">
            <a:avLst/>
          </a:prstGeom>
          <a:solidFill>
            <a:schemeClr val="accent3"/>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4400" b="1">
                <a:solidFill>
                  <a:schemeClr val="tx1"/>
                </a:solidFill>
                <a:latin typeface="Times New Roman"/>
                <a:ea typeface="Calibri"/>
                <a:cs typeface="Calibri"/>
              </a:rPr>
              <a:t>Project Goals</a:t>
            </a:r>
            <a:endParaRPr lang="en-US"/>
          </a:p>
        </p:txBody>
      </p:sp>
      <p:sp>
        <p:nvSpPr>
          <p:cNvPr id="31" name="Rectangle 30">
            <a:extLst>
              <a:ext uri="{FF2B5EF4-FFF2-40B4-BE49-F238E27FC236}">
                <a16:creationId xmlns:a16="http://schemas.microsoft.com/office/drawing/2014/main" id="{9F848A79-CA70-FB17-0879-CD9AA3790872}"/>
              </a:ext>
            </a:extLst>
          </p:cNvPr>
          <p:cNvSpPr/>
          <p:nvPr/>
        </p:nvSpPr>
        <p:spPr>
          <a:xfrm>
            <a:off x="993455" y="5618918"/>
            <a:ext cx="10196013" cy="986138"/>
          </a:xfrm>
          <a:prstGeom prst="rect">
            <a:avLst/>
          </a:prstGeom>
          <a:solidFill>
            <a:schemeClr val="accent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duotone>
              <a:schemeClr val="accent3">
                <a:shade val="45000"/>
                <a:satMod val="135000"/>
              </a:schemeClr>
              <a:prstClr val="white"/>
            </a:duotone>
          </a:blip>
          <a:stretch>
            <a:fillRect/>
          </a:stretch>
        </p:blipFill>
        <p:spPr>
          <a:xfrm>
            <a:off x="-6350" y="41043"/>
            <a:ext cx="43891200" cy="5159038"/>
          </a:xfrm>
          <a:prstGeom prst="rect">
            <a:avLst/>
          </a:prstGeom>
          <a:ln>
            <a:solidFill>
              <a:srgbClr val="4472C4"/>
            </a:solidFill>
          </a:ln>
        </p:spPr>
      </p:pic>
      <p:sp>
        <p:nvSpPr>
          <p:cNvPr id="13" name="object 4"/>
          <p:cNvSpPr txBox="1"/>
          <p:nvPr/>
        </p:nvSpPr>
        <p:spPr>
          <a:xfrm>
            <a:off x="1115190" y="5712442"/>
            <a:ext cx="9753978" cy="19005482"/>
          </a:xfrm>
          <a:prstGeom prst="rect">
            <a:avLst/>
          </a:prstGeom>
        </p:spPr>
        <p:txBody>
          <a:bodyPr vert="horz" wrap="square" lIns="0" tIns="0" rIns="0" bIns="0" rtlCol="0" anchor="t" anchorCtr="0">
            <a:noAutofit/>
          </a:bodyPr>
          <a:lstStyle>
            <a:defPPr>
              <a:defRPr lang="en-US"/>
            </a:defPPr>
            <a:lvl1pPr marL="0" algn="l" defTabSz="498988" rtl="0" eaLnBrk="1" latinLnBrk="0" hangingPunct="1">
              <a:defRPr sz="2000" kern="1200">
                <a:solidFill>
                  <a:schemeClr val="tx1"/>
                </a:solidFill>
                <a:latin typeface="+mn-lt"/>
                <a:ea typeface="+mn-ea"/>
                <a:cs typeface="+mn-cs"/>
              </a:defRPr>
            </a:lvl1pPr>
            <a:lvl2pPr marL="498988" algn="l" defTabSz="498988" rtl="0" eaLnBrk="1" latinLnBrk="0" hangingPunct="1">
              <a:defRPr sz="2000" kern="1200">
                <a:solidFill>
                  <a:schemeClr val="tx1"/>
                </a:solidFill>
                <a:latin typeface="+mn-lt"/>
                <a:ea typeface="+mn-ea"/>
                <a:cs typeface="+mn-cs"/>
              </a:defRPr>
            </a:lvl2pPr>
            <a:lvl3pPr marL="997976" algn="l" defTabSz="498988" rtl="0" eaLnBrk="1" latinLnBrk="0" hangingPunct="1">
              <a:defRPr sz="2000" kern="1200">
                <a:solidFill>
                  <a:schemeClr val="tx1"/>
                </a:solidFill>
                <a:latin typeface="+mn-lt"/>
                <a:ea typeface="+mn-ea"/>
                <a:cs typeface="+mn-cs"/>
              </a:defRPr>
            </a:lvl3pPr>
            <a:lvl4pPr marL="1496964" algn="l" defTabSz="498988" rtl="0" eaLnBrk="1" latinLnBrk="0" hangingPunct="1">
              <a:defRPr sz="2000" kern="1200">
                <a:solidFill>
                  <a:schemeClr val="tx1"/>
                </a:solidFill>
                <a:latin typeface="+mn-lt"/>
                <a:ea typeface="+mn-ea"/>
                <a:cs typeface="+mn-cs"/>
              </a:defRPr>
            </a:lvl4pPr>
            <a:lvl5pPr marL="1995952" algn="l" defTabSz="498988" rtl="0" eaLnBrk="1" latinLnBrk="0" hangingPunct="1">
              <a:defRPr sz="2000" kern="1200">
                <a:solidFill>
                  <a:schemeClr val="tx1"/>
                </a:solidFill>
                <a:latin typeface="+mn-lt"/>
                <a:ea typeface="+mn-ea"/>
                <a:cs typeface="+mn-cs"/>
              </a:defRPr>
            </a:lvl5pPr>
            <a:lvl6pPr marL="2494940" algn="l" defTabSz="498988" rtl="0" eaLnBrk="1" latinLnBrk="0" hangingPunct="1">
              <a:defRPr sz="2000" kern="1200">
                <a:solidFill>
                  <a:schemeClr val="tx1"/>
                </a:solidFill>
                <a:latin typeface="+mn-lt"/>
                <a:ea typeface="+mn-ea"/>
                <a:cs typeface="+mn-cs"/>
              </a:defRPr>
            </a:lvl6pPr>
            <a:lvl7pPr marL="2993928" algn="l" defTabSz="498988" rtl="0" eaLnBrk="1" latinLnBrk="0" hangingPunct="1">
              <a:defRPr sz="2000" kern="1200">
                <a:solidFill>
                  <a:schemeClr val="tx1"/>
                </a:solidFill>
                <a:latin typeface="+mn-lt"/>
                <a:ea typeface="+mn-ea"/>
                <a:cs typeface="+mn-cs"/>
              </a:defRPr>
            </a:lvl7pPr>
            <a:lvl8pPr marL="3492917" algn="l" defTabSz="498988" rtl="0" eaLnBrk="1" latinLnBrk="0" hangingPunct="1">
              <a:defRPr sz="2000" kern="1200">
                <a:solidFill>
                  <a:schemeClr val="tx1"/>
                </a:solidFill>
                <a:latin typeface="+mn-lt"/>
                <a:ea typeface="+mn-ea"/>
                <a:cs typeface="+mn-cs"/>
              </a:defRPr>
            </a:lvl8pPr>
            <a:lvl9pPr marL="3991905" algn="l" defTabSz="498988" rtl="0" eaLnBrk="1" latinLnBrk="0" hangingPunct="1">
              <a:defRPr sz="2000" kern="1200">
                <a:solidFill>
                  <a:schemeClr val="tx1"/>
                </a:solidFill>
                <a:latin typeface="+mn-lt"/>
                <a:ea typeface="+mn-ea"/>
                <a:cs typeface="+mn-cs"/>
              </a:defRPr>
            </a:lvl9pPr>
          </a:lstStyle>
          <a:p>
            <a:pPr marR="10795" algn="ctr">
              <a:spcAft>
                <a:spcPts val="1200"/>
              </a:spcAft>
            </a:pPr>
            <a:r>
              <a:rPr lang="en-US" sz="5400" b="1" spc="22">
                <a:solidFill>
                  <a:srgbClr val="231F20"/>
                </a:solidFill>
                <a:latin typeface="Times New Roman"/>
                <a:cs typeface="Times New Roman"/>
              </a:rPr>
              <a:t>Introduction</a:t>
            </a:r>
            <a:endParaRPr lang="en-US"/>
          </a:p>
          <a:p>
            <a:pPr marR="10795">
              <a:spcBef>
                <a:spcPts val="600"/>
              </a:spcBef>
              <a:spcAft>
                <a:spcPts val="1600"/>
              </a:spcAft>
            </a:pPr>
            <a:r>
              <a:rPr lang="en-US" sz="3600">
                <a:solidFill>
                  <a:schemeClr val="bg1"/>
                </a:solidFill>
                <a:latin typeface="Times New Roman"/>
                <a:cs typeface="Times New Roman"/>
              </a:rPr>
              <a:t>Nvidia Jetson Nano) for real-time processing.</a:t>
            </a:r>
          </a:p>
          <a:p>
            <a:pPr marL="0" marR="10795" lvl="0" indent="0" algn="l" defTabSz="2194560" rtl="0" eaLnBrk="1" fontAlgn="auto" latinLnBrk="0" hangingPunct="1">
              <a:lnSpc>
                <a:spcPct val="100000"/>
              </a:lnSpc>
              <a:spcBef>
                <a:spcPts val="0"/>
              </a:spcBef>
              <a:spcAft>
                <a:spcPts val="1200"/>
              </a:spcAft>
              <a:buClrTx/>
              <a:buSzTx/>
              <a:buFontTx/>
              <a:buNone/>
              <a:tabLst/>
              <a:defRPr/>
            </a:pPr>
            <a:endParaRPr lang="en-US" sz="3600" b="1"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4" name="object 140"/>
          <p:cNvSpPr/>
          <p:nvPr/>
        </p:nvSpPr>
        <p:spPr>
          <a:xfrm>
            <a:off x="11309348" y="5666410"/>
            <a:ext cx="0" cy="25379740"/>
          </a:xfrm>
          <a:custGeom>
            <a:avLst/>
            <a:gdLst/>
            <a:ahLst/>
            <a:cxnLst/>
            <a:rect l="l" t="t" r="r" b="b"/>
            <a:pathLst>
              <a:path h="11627485">
                <a:moveTo>
                  <a:pt x="0" y="0"/>
                </a:moveTo>
                <a:lnTo>
                  <a:pt x="0" y="11626894"/>
                </a:lnTo>
              </a:path>
            </a:pathLst>
          </a:custGeom>
          <a:ln w="5817">
            <a:solidFill>
              <a:schemeClr val="accent3"/>
            </a:solidFill>
          </a:ln>
        </p:spPr>
        <p:txBody>
          <a:bodyPr wrap="square" lIns="0" tIns="0" rIns="0" bIns="0" rtlCol="0"/>
          <a:lstStyle/>
          <a:p>
            <a:endParaRPr/>
          </a:p>
        </p:txBody>
      </p:sp>
      <p:sp>
        <p:nvSpPr>
          <p:cNvPr id="15" name="object 141"/>
          <p:cNvSpPr/>
          <p:nvPr/>
        </p:nvSpPr>
        <p:spPr>
          <a:xfrm>
            <a:off x="21939250" y="5666410"/>
            <a:ext cx="0" cy="25379740"/>
          </a:xfrm>
          <a:custGeom>
            <a:avLst/>
            <a:gdLst/>
            <a:ahLst/>
            <a:cxnLst/>
            <a:rect l="l" t="t" r="r" b="b"/>
            <a:pathLst>
              <a:path h="11627485">
                <a:moveTo>
                  <a:pt x="0" y="0"/>
                </a:moveTo>
                <a:lnTo>
                  <a:pt x="0" y="11626894"/>
                </a:lnTo>
              </a:path>
            </a:pathLst>
          </a:custGeom>
          <a:ln w="5817">
            <a:solidFill>
              <a:srgbClr val="231F20"/>
            </a:solidFill>
          </a:ln>
        </p:spPr>
        <p:txBody>
          <a:bodyPr wrap="square" lIns="0" tIns="0" rIns="0" bIns="0" rtlCol="0"/>
          <a:lstStyle/>
          <a:p>
            <a:endParaRPr/>
          </a:p>
        </p:txBody>
      </p:sp>
      <p:sp>
        <p:nvSpPr>
          <p:cNvPr id="16" name="object 142"/>
          <p:cNvSpPr/>
          <p:nvPr/>
        </p:nvSpPr>
        <p:spPr>
          <a:xfrm>
            <a:off x="32581850" y="5666410"/>
            <a:ext cx="0" cy="25379740"/>
          </a:xfrm>
          <a:custGeom>
            <a:avLst/>
            <a:gdLst/>
            <a:ahLst/>
            <a:cxnLst/>
            <a:rect l="l" t="t" r="r" b="b"/>
            <a:pathLst>
              <a:path h="11627485">
                <a:moveTo>
                  <a:pt x="0" y="0"/>
                </a:moveTo>
                <a:lnTo>
                  <a:pt x="0" y="11626894"/>
                </a:lnTo>
              </a:path>
            </a:pathLst>
          </a:custGeom>
          <a:ln w="5817">
            <a:solidFill>
              <a:srgbClr val="231F20"/>
            </a:solidFill>
          </a:ln>
        </p:spPr>
        <p:txBody>
          <a:bodyPr wrap="square" lIns="0" tIns="0" rIns="0" bIns="0" rtlCol="0"/>
          <a:lstStyle/>
          <a:p>
            <a:endParaRPr/>
          </a:p>
        </p:txBody>
      </p:sp>
      <p:sp>
        <p:nvSpPr>
          <p:cNvPr id="21" name="object 4"/>
          <p:cNvSpPr txBox="1"/>
          <p:nvPr/>
        </p:nvSpPr>
        <p:spPr>
          <a:xfrm>
            <a:off x="11394533" y="5712441"/>
            <a:ext cx="9834918" cy="858696"/>
          </a:xfrm>
          <a:prstGeom prst="rect">
            <a:avLst/>
          </a:prstGeom>
        </p:spPr>
        <p:txBody>
          <a:bodyPr vert="horz" wrap="square" lIns="0" tIns="0" rIns="0" bIns="0" rtlCol="0" anchor="t" anchorCtr="0">
            <a:noAutofit/>
          </a:bodyPr>
          <a:lstStyle>
            <a:defPPr>
              <a:defRPr lang="en-US"/>
            </a:defPPr>
            <a:lvl1pPr marL="0" algn="l" defTabSz="498988" rtl="0" eaLnBrk="1" latinLnBrk="0" hangingPunct="1">
              <a:defRPr sz="2000" kern="1200">
                <a:solidFill>
                  <a:schemeClr val="tx1"/>
                </a:solidFill>
                <a:latin typeface="+mn-lt"/>
                <a:ea typeface="+mn-ea"/>
                <a:cs typeface="+mn-cs"/>
              </a:defRPr>
            </a:lvl1pPr>
            <a:lvl2pPr marL="498988" algn="l" defTabSz="498988" rtl="0" eaLnBrk="1" latinLnBrk="0" hangingPunct="1">
              <a:defRPr sz="2000" kern="1200">
                <a:solidFill>
                  <a:schemeClr val="tx1"/>
                </a:solidFill>
                <a:latin typeface="+mn-lt"/>
                <a:ea typeface="+mn-ea"/>
                <a:cs typeface="+mn-cs"/>
              </a:defRPr>
            </a:lvl2pPr>
            <a:lvl3pPr marL="997976" algn="l" defTabSz="498988" rtl="0" eaLnBrk="1" latinLnBrk="0" hangingPunct="1">
              <a:defRPr sz="2000" kern="1200">
                <a:solidFill>
                  <a:schemeClr val="tx1"/>
                </a:solidFill>
                <a:latin typeface="+mn-lt"/>
                <a:ea typeface="+mn-ea"/>
                <a:cs typeface="+mn-cs"/>
              </a:defRPr>
            </a:lvl3pPr>
            <a:lvl4pPr marL="1496964" algn="l" defTabSz="498988" rtl="0" eaLnBrk="1" latinLnBrk="0" hangingPunct="1">
              <a:defRPr sz="2000" kern="1200">
                <a:solidFill>
                  <a:schemeClr val="tx1"/>
                </a:solidFill>
                <a:latin typeface="+mn-lt"/>
                <a:ea typeface="+mn-ea"/>
                <a:cs typeface="+mn-cs"/>
              </a:defRPr>
            </a:lvl4pPr>
            <a:lvl5pPr marL="1995952" algn="l" defTabSz="498988" rtl="0" eaLnBrk="1" latinLnBrk="0" hangingPunct="1">
              <a:defRPr sz="2000" kern="1200">
                <a:solidFill>
                  <a:schemeClr val="tx1"/>
                </a:solidFill>
                <a:latin typeface="+mn-lt"/>
                <a:ea typeface="+mn-ea"/>
                <a:cs typeface="+mn-cs"/>
              </a:defRPr>
            </a:lvl5pPr>
            <a:lvl6pPr marL="2494940" algn="l" defTabSz="498988" rtl="0" eaLnBrk="1" latinLnBrk="0" hangingPunct="1">
              <a:defRPr sz="2000" kern="1200">
                <a:solidFill>
                  <a:schemeClr val="tx1"/>
                </a:solidFill>
                <a:latin typeface="+mn-lt"/>
                <a:ea typeface="+mn-ea"/>
                <a:cs typeface="+mn-cs"/>
              </a:defRPr>
            </a:lvl6pPr>
            <a:lvl7pPr marL="2993928" algn="l" defTabSz="498988" rtl="0" eaLnBrk="1" latinLnBrk="0" hangingPunct="1">
              <a:defRPr sz="2000" kern="1200">
                <a:solidFill>
                  <a:schemeClr val="tx1"/>
                </a:solidFill>
                <a:latin typeface="+mn-lt"/>
                <a:ea typeface="+mn-ea"/>
                <a:cs typeface="+mn-cs"/>
              </a:defRPr>
            </a:lvl7pPr>
            <a:lvl8pPr marL="3492917" algn="l" defTabSz="498988" rtl="0" eaLnBrk="1" latinLnBrk="0" hangingPunct="1">
              <a:defRPr sz="2000" kern="1200">
                <a:solidFill>
                  <a:schemeClr val="tx1"/>
                </a:solidFill>
                <a:latin typeface="+mn-lt"/>
                <a:ea typeface="+mn-ea"/>
                <a:cs typeface="+mn-cs"/>
              </a:defRPr>
            </a:lvl8pPr>
            <a:lvl9pPr marL="3991905" algn="l" defTabSz="498988" rtl="0" eaLnBrk="1" latinLnBrk="0" hangingPunct="1">
              <a:defRPr sz="2000" kern="1200">
                <a:solidFill>
                  <a:schemeClr val="tx1"/>
                </a:solidFill>
                <a:latin typeface="+mn-lt"/>
                <a:ea typeface="+mn-ea"/>
                <a:cs typeface="+mn-cs"/>
              </a:defRPr>
            </a:lvl9pPr>
          </a:lstStyle>
          <a:p>
            <a:pPr marR="10795" algn="ctr" defTabSz="2194560">
              <a:spcBef>
                <a:spcPts val="600"/>
              </a:spcBef>
              <a:spcAft>
                <a:spcPts val="1200"/>
              </a:spcAft>
              <a:defRPr/>
            </a:pPr>
            <a:r>
              <a:rPr lang="en-US" sz="4800" b="1">
                <a:latin typeface="Times New Roman"/>
                <a:cs typeface="Times New Roman"/>
              </a:rPr>
              <a:t>Achievements in Computer Vision</a:t>
            </a:r>
            <a:endParaRPr lang="en-US" sz="4800">
              <a:ea typeface="Calibri"/>
              <a:cs typeface="Calibri"/>
            </a:endParaRPr>
          </a:p>
        </p:txBody>
      </p:sp>
      <p:sp>
        <p:nvSpPr>
          <p:cNvPr id="39" name="TextBox 38">
            <a:extLst>
              <a:ext uri="{FF2B5EF4-FFF2-40B4-BE49-F238E27FC236}">
                <a16:creationId xmlns:a16="http://schemas.microsoft.com/office/drawing/2014/main" id="{421D8B9B-6DA1-5D6D-81C0-5CB0563079D0}"/>
              </a:ext>
            </a:extLst>
          </p:cNvPr>
          <p:cNvSpPr txBox="1"/>
          <p:nvPr/>
        </p:nvSpPr>
        <p:spPr>
          <a:xfrm>
            <a:off x="22384747" y="5756458"/>
            <a:ext cx="10267982" cy="1708160"/>
          </a:xfrm>
          <a:prstGeom prst="rect">
            <a:avLst/>
          </a:prstGeom>
          <a:noFill/>
        </p:spPr>
        <p:txBody>
          <a:bodyPr wrap="square" lIns="91440" tIns="45720" rIns="91440" bIns="45720" anchor="t">
            <a:spAutoFit/>
          </a:bodyPr>
          <a:lstStyle/>
          <a:p>
            <a:pPr>
              <a:defRPr/>
            </a:pPr>
            <a:r>
              <a:rPr lang="en-US" sz="4600" b="1"/>
              <a:t>Voice Commands for Hands-Free Control</a:t>
            </a:r>
            <a:endParaRPr lang="en-US" sz="4600">
              <a:ea typeface="Calibri"/>
              <a:cs typeface="Calibri"/>
            </a:endParaRPr>
          </a:p>
          <a:p>
            <a:pPr marR="10795">
              <a:spcBef>
                <a:spcPts val="600"/>
              </a:spcBef>
              <a:spcAft>
                <a:spcPts val="1200"/>
              </a:spcAft>
              <a:defRPr/>
            </a:pPr>
            <a:endParaRPr lang="en-US" sz="5400" b="1">
              <a:latin typeface="Times New Roman"/>
              <a:cs typeface="Times New Roman"/>
            </a:endParaRPr>
          </a:p>
        </p:txBody>
      </p:sp>
      <p:pic>
        <p:nvPicPr>
          <p:cNvPr id="1026" name="Picture 2" descr="U.S. Department of Energy Office of Science">
            <a:extLst>
              <a:ext uri="{FF2B5EF4-FFF2-40B4-BE49-F238E27FC236}">
                <a16:creationId xmlns:a16="http://schemas.microsoft.com/office/drawing/2014/main" id="{7CAB64DA-940E-B81E-5710-19ACC133CD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55680" y="30115486"/>
            <a:ext cx="8882920" cy="1495291"/>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19D125E2-83E2-DF2C-7B2C-FBCC4B1B6BD2}"/>
              </a:ext>
            </a:extLst>
          </p:cNvPr>
          <p:cNvSpPr txBox="1"/>
          <p:nvPr/>
        </p:nvSpPr>
        <p:spPr>
          <a:xfrm>
            <a:off x="35713383" y="5761807"/>
            <a:ext cx="10480216" cy="22006024"/>
          </a:xfrm>
          <a:prstGeom prst="rect">
            <a:avLst/>
          </a:prstGeom>
          <a:noFill/>
        </p:spPr>
        <p:txBody>
          <a:bodyPr wrap="square" lIns="91440" tIns="45720" rIns="91440" bIns="45720" anchor="t">
            <a:spAutoFit/>
          </a:bodyPr>
          <a:lstStyle/>
          <a:p>
            <a:pPr marR="10795">
              <a:spcBef>
                <a:spcPts val="600"/>
              </a:spcBef>
              <a:spcAft>
                <a:spcPts val="1200"/>
              </a:spcAft>
              <a:defRPr/>
            </a:pPr>
            <a:r>
              <a:rPr lang="en-US" sz="5400" b="1" spc="22">
                <a:solidFill>
                  <a:srgbClr val="231F20"/>
                </a:solidFill>
                <a:latin typeface="Times New Roman"/>
                <a:cs typeface="Times New Roman"/>
              </a:rPr>
              <a:t>Future Vision</a:t>
            </a:r>
            <a:endParaRPr lang="en-US"/>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sz="3200" b="1" i="1" spc="22">
              <a:solidFill>
                <a:srgbClr val="231F20"/>
              </a:solidFill>
              <a:latin typeface="Times New Roman"/>
              <a:cs typeface="Times New Roman"/>
            </a:endParaRPr>
          </a:p>
          <a:p>
            <a:pPr marR="10795">
              <a:spcBef>
                <a:spcPts val="600"/>
              </a:spcBef>
              <a:spcAft>
                <a:spcPts val="1200"/>
              </a:spcAft>
              <a:defRPr/>
            </a:pPr>
            <a:endParaRPr lang="en-US" b="0" u="none" strike="noStrike" kern="1200" cap="none" normalizeH="0" baseline="0" noProof="0">
              <a:ln>
                <a:noFill/>
              </a:ln>
              <a:solidFill>
                <a:srgbClr val="000000"/>
              </a:solidFill>
              <a:effectLst/>
              <a:uLnTx/>
              <a:uFillTx/>
              <a:latin typeface="Times New Roman"/>
              <a:ea typeface="Calibri"/>
              <a:cs typeface="Times New Roman"/>
            </a:endParaRPr>
          </a:p>
        </p:txBody>
      </p:sp>
      <p:sp>
        <p:nvSpPr>
          <p:cNvPr id="1030" name="TextBox 1029">
            <a:extLst>
              <a:ext uri="{FF2B5EF4-FFF2-40B4-BE49-F238E27FC236}">
                <a16:creationId xmlns:a16="http://schemas.microsoft.com/office/drawing/2014/main" id="{69520383-53FF-99A7-1D75-47630B43325D}"/>
              </a:ext>
            </a:extLst>
          </p:cNvPr>
          <p:cNvSpPr txBox="1"/>
          <p:nvPr/>
        </p:nvSpPr>
        <p:spPr>
          <a:xfrm>
            <a:off x="-59359" y="32382776"/>
            <a:ext cx="43955241" cy="523220"/>
          </a:xfrm>
          <a:prstGeom prst="rect">
            <a:avLst/>
          </a:prstGeom>
          <a:solidFill>
            <a:schemeClr val="tx2">
              <a:lumMod val="20000"/>
              <a:lumOff val="80000"/>
            </a:schemeClr>
          </a:solidFill>
        </p:spPr>
        <p:txBody>
          <a:bodyPr wrap="square" lIns="91440" tIns="45720" rIns="91440" bIns="45720" anchor="t">
            <a:spAutoFit/>
          </a:bodyPr>
          <a:lstStyle/>
          <a:p>
            <a:r>
              <a:rPr lang="en-US" sz="2800">
                <a:ea typeface="+mn-lt"/>
                <a:cs typeface="+mn-lt"/>
              </a:rPr>
              <a:t> Reference 1. </a:t>
            </a:r>
            <a:r>
              <a:rPr lang="en-US" sz="2800" err="1">
                <a:ea typeface="+mn-lt"/>
                <a:cs typeface="+mn-lt"/>
              </a:rPr>
              <a:t>Yahboom</a:t>
            </a:r>
            <a:r>
              <a:rPr lang="en-US" sz="2800">
                <a:ea typeface="+mn-lt"/>
                <a:cs typeface="+mn-lt"/>
              </a:rPr>
              <a:t>, "</a:t>
            </a:r>
            <a:r>
              <a:rPr lang="en-US" sz="2800" err="1">
                <a:ea typeface="+mn-lt"/>
                <a:cs typeface="+mn-lt"/>
              </a:rPr>
              <a:t>Rosmaster</a:t>
            </a:r>
            <a:r>
              <a:rPr lang="en-US" sz="2800">
                <a:ea typeface="+mn-lt"/>
                <a:cs typeface="+mn-lt"/>
              </a:rPr>
              <a:t> X3 Plus Documentation," </a:t>
            </a:r>
            <a:r>
              <a:rPr lang="en-US" sz="2800" err="1">
                <a:ea typeface="+mn-lt"/>
                <a:cs typeface="+mn-lt"/>
              </a:rPr>
              <a:t>Yahboom</a:t>
            </a:r>
            <a:r>
              <a:rPr lang="en-US" sz="2800">
                <a:ea typeface="+mn-lt"/>
                <a:cs typeface="+mn-lt"/>
              </a:rPr>
              <a:t> Official Website. [Online]. Available: </a:t>
            </a:r>
            <a:r>
              <a:rPr lang="en-US" sz="2800">
                <a:ea typeface="+mn-lt"/>
                <a:cs typeface="+mn-lt"/>
                <a:hlinkClick r:id="rId5"/>
              </a:rPr>
              <a:t>https://www.yahboom.net</a:t>
            </a:r>
            <a:r>
              <a:rPr lang="en-US" sz="2800">
                <a:ea typeface="+mn-lt"/>
                <a:cs typeface="+mn-lt"/>
              </a:rPr>
              <a:t>. [Accessed: Jan. 27, 2025]</a:t>
            </a:r>
            <a:endParaRPr lang="en-US" sz="280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C4A6CB8-F53E-B97D-1015-74F17F77FBD3}"/>
              </a:ext>
            </a:extLst>
          </p:cNvPr>
          <p:cNvSpPr txBox="1"/>
          <p:nvPr/>
        </p:nvSpPr>
        <p:spPr>
          <a:xfrm>
            <a:off x="22257814" y="6993725"/>
            <a:ext cx="9891422" cy="222522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Times New Roman"/>
                <a:ea typeface="+mn-lt"/>
                <a:cs typeface="+mn-lt"/>
              </a:rPr>
              <a:t>Current Progress</a:t>
            </a:r>
          </a:p>
          <a:p>
            <a:pPr marL="457200"/>
            <a:r>
              <a:rPr lang="en-US" sz="4000">
                <a:latin typeface="Times New Roman"/>
                <a:ea typeface="+mn-lt"/>
                <a:cs typeface="+mn-lt"/>
              </a:rPr>
              <a:t>We have successfully implemented voice recognition technology to detect colors (red, blue, yellow), allowing our robotic systems to respond to verbal commands by navigating towards specified colors. This foundational work sets the stage for the following exciting future developments.</a:t>
            </a:r>
            <a:endParaRPr lang="en-US" sz="4000">
              <a:latin typeface="Times New Roman"/>
              <a:ea typeface="Calibri"/>
              <a:cs typeface="Calibri"/>
            </a:endParaRPr>
          </a:p>
          <a:p>
            <a:endParaRPr lang="en-US" sz="4000">
              <a:latin typeface="Times New Roman"/>
              <a:ea typeface="+mn-lt"/>
              <a:cs typeface="+mn-lt"/>
            </a:endParaRPr>
          </a:p>
          <a:p>
            <a:endParaRPr lang="en-US" sz="4000">
              <a:latin typeface="Times New Roman"/>
              <a:ea typeface="+mn-lt"/>
              <a:cs typeface="+mn-lt"/>
            </a:endParaRPr>
          </a:p>
          <a:p>
            <a:endParaRPr lang="en-US" sz="4000">
              <a:latin typeface="Times New Roman"/>
              <a:ea typeface="+mn-lt"/>
              <a:cs typeface="+mn-lt"/>
            </a:endParaRPr>
          </a:p>
          <a:p>
            <a:endParaRPr lang="en-US" sz="4000">
              <a:latin typeface="Times New Roman"/>
              <a:ea typeface="+mn-lt"/>
              <a:cs typeface="+mn-lt"/>
            </a:endParaRPr>
          </a:p>
          <a:p>
            <a:endParaRPr lang="en-US" sz="4000">
              <a:latin typeface="Times New Roman"/>
              <a:ea typeface="+mn-lt"/>
              <a:cs typeface="+mn-lt"/>
            </a:endParaRPr>
          </a:p>
          <a:p>
            <a:endParaRPr lang="en-US" sz="4000" b="1">
              <a:latin typeface="Times New Roman"/>
              <a:ea typeface="+mn-lt"/>
              <a:cs typeface="+mn-lt"/>
            </a:endParaRPr>
          </a:p>
          <a:p>
            <a:endParaRPr lang="en-US" sz="4000" b="1">
              <a:latin typeface="Times New Roman"/>
              <a:ea typeface="+mn-lt"/>
              <a:cs typeface="+mn-lt"/>
            </a:endParaRPr>
          </a:p>
          <a:p>
            <a:endParaRPr lang="en-US" sz="4000" b="1">
              <a:latin typeface="Times New Roman"/>
              <a:ea typeface="+mn-lt"/>
              <a:cs typeface="+mn-lt"/>
            </a:endParaRPr>
          </a:p>
          <a:p>
            <a:endParaRPr lang="en-US" sz="4000" b="1">
              <a:latin typeface="Times New Roman"/>
              <a:ea typeface="+mn-lt"/>
              <a:cs typeface="+mn-lt"/>
            </a:endParaRPr>
          </a:p>
          <a:p>
            <a:endParaRPr lang="en-US" sz="4000" b="1">
              <a:latin typeface="Times New Roman"/>
              <a:ea typeface="+mn-lt"/>
              <a:cs typeface="+mn-lt"/>
            </a:endParaRPr>
          </a:p>
          <a:p>
            <a:r>
              <a:rPr lang="en-US" sz="4000" b="1">
                <a:latin typeface="Times New Roman"/>
                <a:ea typeface="+mn-lt"/>
                <a:cs typeface="+mn-lt"/>
              </a:rPr>
              <a:t>Expanded Command Vocabulary</a:t>
            </a:r>
            <a:endParaRPr lang="en-US" sz="4000">
              <a:latin typeface="Times New Roman"/>
              <a:ea typeface="+mn-lt"/>
              <a:cs typeface="+mn-lt"/>
            </a:endParaRPr>
          </a:p>
          <a:p>
            <a:pPr marL="457200"/>
            <a:r>
              <a:rPr lang="en-US" sz="4000">
                <a:latin typeface="Times New Roman"/>
                <a:ea typeface="+mn-lt"/>
                <a:cs typeface="+mn-lt"/>
              </a:rPr>
              <a:t>We plan to enhance our voice recognition capabilities by expanding the range of commands that can be processed. This will enable more complex interactions, such as instructing robots to perform specific tasks based on color detection.</a:t>
            </a:r>
            <a:endParaRPr lang="en-US" sz="4000">
              <a:latin typeface="Times New Roman"/>
              <a:ea typeface="Calibri"/>
              <a:cs typeface="Calibri"/>
            </a:endParaRPr>
          </a:p>
          <a:p>
            <a:endParaRPr lang="en-US" sz="4000" b="1">
              <a:latin typeface="Times New Roman"/>
              <a:ea typeface="+mn-lt"/>
              <a:cs typeface="+mn-lt"/>
            </a:endParaRPr>
          </a:p>
          <a:p>
            <a:r>
              <a:rPr lang="en-US" sz="4000" b="1">
                <a:latin typeface="Times New Roman"/>
                <a:ea typeface="+mn-lt"/>
                <a:cs typeface="+mn-lt"/>
              </a:rPr>
              <a:t>Integration with Laboratory Equipment</a:t>
            </a:r>
            <a:endParaRPr lang="en-US" sz="4000">
              <a:latin typeface="Times New Roman"/>
              <a:ea typeface="+mn-lt"/>
              <a:cs typeface="+mn-lt"/>
            </a:endParaRPr>
          </a:p>
          <a:p>
            <a:pPr marL="457200"/>
            <a:r>
              <a:rPr lang="en-US" sz="4000">
                <a:latin typeface="Times New Roman"/>
                <a:ea typeface="+mn-lt"/>
                <a:cs typeface="+mn-lt"/>
              </a:rPr>
              <a:t>Future efforts will focus on integrating voice commands with various laboratory instruments, allowing researchers to control equipment hands-free, thus improving efficiency and safety in lab environments.</a:t>
            </a:r>
            <a:endParaRPr lang="en-US" sz="4000">
              <a:latin typeface="Times New Roman"/>
              <a:ea typeface="Calibri"/>
              <a:cs typeface="Calibri"/>
            </a:endParaRPr>
          </a:p>
          <a:p>
            <a:endParaRPr lang="en-US" sz="4000" b="1">
              <a:latin typeface="Times New Roman"/>
              <a:ea typeface="+mn-lt"/>
              <a:cs typeface="+mn-lt"/>
            </a:endParaRPr>
          </a:p>
          <a:p>
            <a:endParaRPr lang="en-US" sz="4000">
              <a:latin typeface="Times New Roman"/>
              <a:ea typeface="Calibri"/>
              <a:cs typeface="Calibri"/>
            </a:endParaRPr>
          </a:p>
          <a:p>
            <a:pPr algn="l"/>
            <a:endParaRPr lang="en-US" sz="4000">
              <a:latin typeface="Times New Roman"/>
              <a:ea typeface="Calibri"/>
              <a:cs typeface="Calibri"/>
            </a:endParaRPr>
          </a:p>
          <a:p>
            <a:endParaRPr lang="en-US" sz="4000">
              <a:latin typeface="Times New Roman"/>
              <a:ea typeface="Calibri"/>
              <a:cs typeface="Calibri"/>
            </a:endParaRPr>
          </a:p>
        </p:txBody>
      </p:sp>
      <p:sp>
        <p:nvSpPr>
          <p:cNvPr id="3" name="TextBox 2">
            <a:extLst>
              <a:ext uri="{FF2B5EF4-FFF2-40B4-BE49-F238E27FC236}">
                <a16:creationId xmlns:a16="http://schemas.microsoft.com/office/drawing/2014/main" id="{ED7138FD-A6D6-B213-FCD8-6E15788BA086}"/>
              </a:ext>
            </a:extLst>
          </p:cNvPr>
          <p:cNvSpPr txBox="1"/>
          <p:nvPr/>
        </p:nvSpPr>
        <p:spPr>
          <a:xfrm>
            <a:off x="11605884" y="6996745"/>
            <a:ext cx="9796006" cy="194822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latin typeface="Times New Roman"/>
                <a:ea typeface="+mn-lt"/>
                <a:cs typeface="+mn-lt"/>
              </a:rPr>
              <a:t>In the realm of computer vision, we have successfully utilized the YOLO (You Only Look Once) algorithm for various object detection using camera feeds (phone, laptop, person, </a:t>
            </a:r>
            <a:r>
              <a:rPr lang="en-US" sz="3600" err="1">
                <a:latin typeface="Times New Roman"/>
                <a:ea typeface="+mn-lt"/>
                <a:cs typeface="+mn-lt"/>
              </a:rPr>
              <a:t>etc</a:t>
            </a:r>
            <a:r>
              <a:rPr lang="en-US" sz="3600">
                <a:latin typeface="Times New Roman"/>
                <a:ea typeface="+mn-lt"/>
                <a:cs typeface="+mn-lt"/>
              </a:rPr>
              <a:t>) This achievement has laid the groundwork for the following future innovations:</a:t>
            </a:r>
            <a:endParaRPr lang="en-US" sz="3600">
              <a:latin typeface="Times New Roman"/>
              <a:ea typeface="Calibri"/>
              <a:cs typeface="Calibri"/>
            </a:endParaRPr>
          </a:p>
          <a:p>
            <a:endParaRPr lang="en-US" sz="3600">
              <a:latin typeface="Times New Roman"/>
              <a:ea typeface="+mn-lt"/>
              <a:cs typeface="+mn-lt"/>
            </a:endParaRPr>
          </a:p>
          <a:p>
            <a:endParaRPr lang="en-US" sz="3600">
              <a:latin typeface="Times New Roman"/>
              <a:ea typeface="+mn-lt"/>
              <a:cs typeface="+mn-lt"/>
            </a:endParaRPr>
          </a:p>
          <a:p>
            <a:endParaRPr lang="en-US" sz="3600">
              <a:latin typeface="Times New Roman"/>
              <a:ea typeface="+mn-lt"/>
              <a:cs typeface="+mn-lt"/>
            </a:endParaRPr>
          </a:p>
          <a:p>
            <a:endParaRPr lang="en-US" sz="3600">
              <a:latin typeface="Times New Roman"/>
              <a:ea typeface="+mn-lt"/>
              <a:cs typeface="+mn-lt"/>
            </a:endParaRPr>
          </a:p>
          <a:p>
            <a:endParaRPr lang="en-US" sz="3600">
              <a:latin typeface="Times New Roman"/>
              <a:ea typeface="+mn-lt"/>
              <a:cs typeface="+mn-lt"/>
            </a:endParaRPr>
          </a:p>
          <a:p>
            <a:endParaRPr lang="en-US" sz="3600">
              <a:latin typeface="Times New Roman"/>
              <a:ea typeface="+mn-lt"/>
              <a:cs typeface="+mn-lt"/>
            </a:endParaRPr>
          </a:p>
          <a:p>
            <a:endParaRPr lang="en-US" sz="3600">
              <a:latin typeface="Times New Roman"/>
              <a:ea typeface="+mn-lt"/>
              <a:cs typeface="+mn-lt"/>
            </a:endParaRPr>
          </a:p>
          <a:p>
            <a:endParaRPr lang="en-US" sz="3600">
              <a:latin typeface="Times New Roman"/>
              <a:ea typeface="+mn-lt"/>
              <a:cs typeface="+mn-lt"/>
            </a:endParaRPr>
          </a:p>
          <a:p>
            <a:endParaRPr lang="en-US" sz="3600">
              <a:latin typeface="Times New Roman"/>
              <a:ea typeface="+mn-lt"/>
              <a:cs typeface="+mn-lt"/>
            </a:endParaRPr>
          </a:p>
          <a:p>
            <a:endParaRPr lang="en-US" sz="3600">
              <a:latin typeface="Times New Roman"/>
              <a:ea typeface="+mn-lt"/>
              <a:cs typeface="+mn-lt"/>
            </a:endParaRPr>
          </a:p>
          <a:p>
            <a:endParaRPr lang="en-US" sz="3600">
              <a:latin typeface="Times New Roman"/>
              <a:ea typeface="+mn-lt"/>
              <a:cs typeface="+mn-lt"/>
            </a:endParaRPr>
          </a:p>
          <a:p>
            <a:endParaRPr lang="en-US" sz="3600">
              <a:latin typeface="Times New Roman"/>
              <a:ea typeface="+mn-lt"/>
              <a:cs typeface="+mn-lt"/>
            </a:endParaRPr>
          </a:p>
          <a:p>
            <a:pPr>
              <a:buFont typeface="Arial"/>
            </a:pPr>
            <a:endParaRPr lang="en-US" sz="3600" b="1">
              <a:latin typeface="Times New Roman"/>
              <a:ea typeface="+mn-lt"/>
              <a:cs typeface="+mn-lt"/>
            </a:endParaRPr>
          </a:p>
          <a:p>
            <a:pPr>
              <a:buFont typeface="Arial"/>
            </a:pPr>
            <a:r>
              <a:rPr lang="en-US" sz="3600" b="1">
                <a:latin typeface="Times New Roman"/>
                <a:ea typeface="+mn-lt"/>
                <a:cs typeface="+mn-lt"/>
              </a:rPr>
              <a:t>Multi-Object Tracking</a:t>
            </a:r>
            <a:endParaRPr lang="en-US" sz="3600">
              <a:latin typeface="Times New Roman"/>
              <a:ea typeface="+mn-lt"/>
              <a:cs typeface="+mn-lt"/>
            </a:endParaRPr>
          </a:p>
          <a:p>
            <a:pPr marL="457200">
              <a:buFont typeface="Arial"/>
            </a:pPr>
            <a:r>
              <a:rPr lang="en-US" sz="3600">
                <a:latin typeface="Times New Roman"/>
                <a:ea typeface="+mn-lt"/>
                <a:cs typeface="+mn-lt"/>
              </a:rPr>
              <a:t>Our next goal is to implement multi-object tracking capabilities that will allow our systems to monitor several items simultaneously. This will be particularly useful in experiments involving multiple samples or subjects.</a:t>
            </a:r>
            <a:endParaRPr lang="en-US" sz="3600">
              <a:latin typeface="Times New Roman"/>
              <a:ea typeface="Calibri"/>
              <a:cs typeface="Calibri"/>
            </a:endParaRPr>
          </a:p>
          <a:p>
            <a:endParaRPr lang="en-US" sz="3600">
              <a:latin typeface="Times New Roman"/>
              <a:ea typeface="+mn-lt"/>
              <a:cs typeface="+mn-lt"/>
            </a:endParaRPr>
          </a:p>
          <a:p>
            <a:r>
              <a:rPr lang="en-US" sz="3600" b="1">
                <a:latin typeface="Times New Roman"/>
                <a:ea typeface="+mn-lt"/>
                <a:cs typeface="+mn-lt"/>
              </a:rPr>
              <a:t>Enhanced Image Processing</a:t>
            </a:r>
            <a:endParaRPr lang="en-US" sz="3600" b="1">
              <a:latin typeface="Times New Roman"/>
              <a:ea typeface="+mn-lt"/>
              <a:cs typeface="Times New Roman"/>
            </a:endParaRPr>
          </a:p>
          <a:p>
            <a:pPr marL="457200"/>
            <a:r>
              <a:rPr lang="en-US" sz="3600">
                <a:latin typeface="Times New Roman"/>
                <a:ea typeface="+mn-lt"/>
                <a:cs typeface="+mn-lt"/>
              </a:rPr>
              <a:t>We plan to improve our image processing techniques to include advanced features such as anomaly detection and pattern recognition. This will enable our lab to identify unexpected results or outliers in experimental data more effectively.</a:t>
            </a:r>
            <a:endParaRPr lang="en-US" sz="3600">
              <a:latin typeface="Times New Roman"/>
              <a:ea typeface="+mn-lt"/>
              <a:cs typeface="Times New Roman"/>
            </a:endParaRPr>
          </a:p>
          <a:p>
            <a:endParaRPr lang="en-US" sz="3600">
              <a:latin typeface="Times New Roman"/>
              <a:ea typeface="+mn-lt"/>
              <a:cs typeface="+mn-lt"/>
            </a:endParaRPr>
          </a:p>
          <a:p>
            <a:endParaRPr lang="en-US" sz="3600" b="1">
              <a:latin typeface="Times New Roman"/>
              <a:ea typeface="+mn-lt"/>
              <a:cs typeface="Calibri"/>
            </a:endParaRPr>
          </a:p>
          <a:p>
            <a:endParaRPr lang="en-US" sz="3600">
              <a:latin typeface="Times New Roman"/>
              <a:ea typeface="+mn-lt"/>
              <a:cs typeface="+mn-lt"/>
            </a:endParaRPr>
          </a:p>
        </p:txBody>
      </p:sp>
      <p:sp>
        <p:nvSpPr>
          <p:cNvPr id="8" name="TextBox 7">
            <a:extLst>
              <a:ext uri="{FF2B5EF4-FFF2-40B4-BE49-F238E27FC236}">
                <a16:creationId xmlns:a16="http://schemas.microsoft.com/office/drawing/2014/main" id="{8D517E0C-38A9-1509-E4B1-BA16379C6E51}"/>
              </a:ext>
            </a:extLst>
          </p:cNvPr>
          <p:cNvSpPr txBox="1"/>
          <p:nvPr/>
        </p:nvSpPr>
        <p:spPr>
          <a:xfrm>
            <a:off x="938253" y="16459199"/>
            <a:ext cx="9700591" cy="160967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latin typeface="Times New Roman"/>
                <a:ea typeface="+mn-lt"/>
                <a:cs typeface="+mn-lt"/>
              </a:rPr>
              <a:t>The primary goal of our project is to revolutionize scientific laboratories by integrating artificial intelligence and robotics into their daily operations. We aim to transform traditional workflows into automated, efficient systems capable of handling tasks such as:</a:t>
            </a:r>
          </a:p>
          <a:p>
            <a:endParaRPr lang="en-US" sz="4000">
              <a:latin typeface="Times New Roman"/>
              <a:ea typeface="+mn-lt"/>
              <a:cs typeface="+mn-lt"/>
            </a:endParaRPr>
          </a:p>
          <a:p>
            <a:r>
              <a:rPr lang="en-US" sz="4000" b="1">
                <a:latin typeface="Times New Roman"/>
                <a:ea typeface="+mn-lt"/>
                <a:cs typeface="+mn-lt"/>
              </a:rPr>
              <a:t>Sample Collection</a:t>
            </a:r>
            <a:endParaRPr lang="en-US">
              <a:latin typeface="Calibri"/>
              <a:ea typeface="+mn-lt"/>
              <a:cs typeface="+mn-lt"/>
            </a:endParaRPr>
          </a:p>
          <a:p>
            <a:pPr marL="457200"/>
            <a:r>
              <a:rPr lang="en-US" sz="4000">
                <a:latin typeface="Times New Roman"/>
                <a:ea typeface="+mn-lt"/>
                <a:cs typeface="+mn-lt"/>
              </a:rPr>
              <a:t>Automating the handling and storage of samples to ensure consistency and reduce contamination risks.</a:t>
            </a:r>
            <a:endParaRPr lang="en-US">
              <a:latin typeface="Calibri"/>
              <a:ea typeface="Calibri"/>
              <a:cs typeface="Calibri"/>
            </a:endParaRPr>
          </a:p>
          <a:p>
            <a:pPr marL="914400"/>
            <a:endParaRPr lang="en-US" sz="4000">
              <a:latin typeface="Times New Roman"/>
              <a:ea typeface="+mn-lt"/>
              <a:cs typeface="+mn-lt"/>
            </a:endParaRPr>
          </a:p>
          <a:p>
            <a:r>
              <a:rPr lang="en-US" sz="4000" b="1">
                <a:latin typeface="Times New Roman"/>
                <a:ea typeface="+mn-lt"/>
                <a:cs typeface="+mn-lt"/>
              </a:rPr>
              <a:t>Data Sampling and Analysis</a:t>
            </a:r>
          </a:p>
          <a:p>
            <a:pPr marL="457200"/>
            <a:r>
              <a:rPr lang="en-US" sz="4000">
                <a:latin typeface="Times New Roman"/>
                <a:ea typeface="+mn-lt"/>
                <a:cs typeface="+mn-lt"/>
              </a:rPr>
              <a:t>Enabling real-time data collection and processing through AI-powered algorithms to accelerate experimental timelines.</a:t>
            </a:r>
            <a:endParaRPr lang="en-US">
              <a:latin typeface="Calibri"/>
              <a:ea typeface="+mn-lt"/>
              <a:cs typeface="+mn-lt"/>
            </a:endParaRPr>
          </a:p>
          <a:p>
            <a:pPr marL="457200"/>
            <a:endParaRPr lang="en-US" sz="4000">
              <a:latin typeface="Times New Roman"/>
              <a:ea typeface="+mn-lt"/>
              <a:cs typeface="+mn-lt"/>
            </a:endParaRPr>
          </a:p>
          <a:p>
            <a:pPr>
              <a:buFont typeface="Arial"/>
            </a:pPr>
            <a:r>
              <a:rPr lang="en-US" sz="4000" b="1">
                <a:latin typeface="Times New Roman"/>
                <a:ea typeface="+mn-lt"/>
                <a:cs typeface="+mn-lt"/>
              </a:rPr>
              <a:t>Human-Robot Interaction</a:t>
            </a:r>
            <a:endParaRPr lang="en-US">
              <a:latin typeface="Calibri"/>
              <a:ea typeface="+mn-lt"/>
              <a:cs typeface="+mn-lt"/>
            </a:endParaRPr>
          </a:p>
          <a:p>
            <a:pPr marL="457200">
              <a:buFont typeface="Arial"/>
            </a:pPr>
            <a:r>
              <a:rPr lang="en-US" sz="4000">
                <a:latin typeface="Times New Roman"/>
                <a:ea typeface="+mn-lt"/>
                <a:cs typeface="+mn-lt"/>
              </a:rPr>
              <a:t>Developing robots that can respond to voice commands and interpret visual data, bridging the gap between human researchers and automated systems.</a:t>
            </a:r>
            <a:endParaRPr lang="en-US">
              <a:ea typeface="Calibri"/>
              <a:cs typeface="Calibri"/>
            </a:endParaRPr>
          </a:p>
          <a:p>
            <a:endParaRPr lang="en-US" sz="4000">
              <a:latin typeface="Times New Roman"/>
              <a:ea typeface="+mn-lt"/>
              <a:cs typeface="+mn-lt"/>
            </a:endParaRPr>
          </a:p>
          <a:p>
            <a:pPr marL="285750" indent="-285750">
              <a:buFont typeface="Arial"/>
              <a:buChar char="•"/>
            </a:pPr>
            <a:endParaRPr lang="en-US" sz="4000">
              <a:latin typeface="Times New Roman"/>
              <a:ea typeface="Calibri"/>
              <a:cs typeface="Calibri"/>
            </a:endParaRPr>
          </a:p>
          <a:p>
            <a:pPr algn="l"/>
            <a:endParaRPr lang="en-US" sz="4000">
              <a:latin typeface="Times New Roman"/>
              <a:ea typeface="Calibri"/>
              <a:cs typeface="Calibri"/>
            </a:endParaRPr>
          </a:p>
        </p:txBody>
      </p:sp>
      <p:sp>
        <p:nvSpPr>
          <p:cNvPr id="11" name="TextBox 10">
            <a:extLst>
              <a:ext uri="{FF2B5EF4-FFF2-40B4-BE49-F238E27FC236}">
                <a16:creationId xmlns:a16="http://schemas.microsoft.com/office/drawing/2014/main" id="{17B531A3-5720-D2F3-48F7-5A03E168C263}"/>
              </a:ext>
            </a:extLst>
          </p:cNvPr>
          <p:cNvSpPr txBox="1"/>
          <p:nvPr/>
        </p:nvSpPr>
        <p:spPr>
          <a:xfrm>
            <a:off x="32843651" y="6992383"/>
            <a:ext cx="9732396" cy="144347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Times New Roman"/>
                <a:cs typeface="Times New Roman"/>
              </a:rPr>
              <a:t>Applications in Laboratory Automation</a:t>
            </a:r>
            <a:endParaRPr lang="en-US" sz="4000" b="1">
              <a:latin typeface="Times New Roman"/>
              <a:ea typeface="Calibri"/>
              <a:cs typeface="Times New Roman"/>
            </a:endParaRPr>
          </a:p>
          <a:p>
            <a:pPr marL="457200"/>
            <a:r>
              <a:rPr lang="en-US" sz="4000">
                <a:solidFill>
                  <a:srgbClr val="231F20"/>
                </a:solidFill>
                <a:latin typeface="Times New Roman"/>
                <a:ea typeface="+mn-lt"/>
                <a:cs typeface="+mn-lt"/>
              </a:rPr>
              <a:t>The integration of computer vision and voice commands opens up exciting possibilities for lab automation, such as:</a:t>
            </a:r>
            <a:endParaRPr lang="en-US" sz="4000">
              <a:solidFill>
                <a:srgbClr val="000000"/>
              </a:solidFill>
              <a:latin typeface="Times New Roman"/>
              <a:ea typeface="+mn-lt"/>
              <a:cs typeface="+mn-lt"/>
            </a:endParaRPr>
          </a:p>
          <a:p>
            <a:pPr marL="1028700" indent="-571500">
              <a:buFont typeface="Arial"/>
              <a:buChar char="•"/>
            </a:pPr>
            <a:r>
              <a:rPr lang="en-US" sz="4000">
                <a:solidFill>
                  <a:srgbClr val="231F20"/>
                </a:solidFill>
                <a:latin typeface="Times New Roman"/>
                <a:ea typeface="+mn-lt"/>
                <a:cs typeface="+mn-lt"/>
              </a:rPr>
              <a:t>Accelerating data collection and analysis by automating repetitive tasks.</a:t>
            </a:r>
            <a:endParaRPr lang="en-US" sz="4000">
              <a:solidFill>
                <a:srgbClr val="000000"/>
              </a:solidFill>
              <a:latin typeface="Times New Roman"/>
              <a:ea typeface="+mn-lt"/>
              <a:cs typeface="+mn-lt"/>
            </a:endParaRPr>
          </a:p>
          <a:p>
            <a:pPr marL="1028700" indent="-571500">
              <a:buFont typeface="Arial"/>
              <a:buChar char="•"/>
            </a:pPr>
            <a:r>
              <a:rPr lang="en-US" sz="4000">
                <a:solidFill>
                  <a:srgbClr val="231F20"/>
                </a:solidFill>
                <a:latin typeface="Times New Roman"/>
                <a:ea typeface="+mn-lt"/>
                <a:cs typeface="+mn-lt"/>
              </a:rPr>
              <a:t>Improving accuracy by reducing human errors in experiments.</a:t>
            </a:r>
            <a:endParaRPr lang="en-US" sz="4000">
              <a:solidFill>
                <a:srgbClr val="000000"/>
              </a:solidFill>
              <a:latin typeface="Times New Roman"/>
              <a:ea typeface="+mn-lt"/>
              <a:cs typeface="+mn-lt"/>
            </a:endParaRPr>
          </a:p>
          <a:p>
            <a:pPr marL="1028700" indent="-571500">
              <a:buFont typeface="Arial"/>
              <a:buChar char="•"/>
            </a:pPr>
            <a:r>
              <a:rPr lang="en-US" sz="4000">
                <a:solidFill>
                  <a:srgbClr val="231F20"/>
                </a:solidFill>
                <a:latin typeface="Times New Roman"/>
                <a:ea typeface="+mn-lt"/>
                <a:cs typeface="+mn-lt"/>
              </a:rPr>
              <a:t>Streamlining workflows to allow researchers to focus on critical tasks instead of manual labor.</a:t>
            </a:r>
            <a:endParaRPr lang="en-US" sz="4000">
              <a:latin typeface="Times New Roman"/>
              <a:ea typeface="+mn-lt"/>
              <a:cs typeface="+mn-lt"/>
            </a:endParaRPr>
          </a:p>
          <a:p>
            <a:pPr marL="285750" indent="-285750">
              <a:buFont typeface="Arial"/>
              <a:buChar char="•"/>
            </a:pPr>
            <a:endParaRPr lang="en-US" sz="4000">
              <a:solidFill>
                <a:srgbClr val="231F20"/>
              </a:solidFill>
              <a:latin typeface="Times New Roman"/>
              <a:ea typeface="Calibri"/>
              <a:cs typeface="Calibri"/>
            </a:endParaRPr>
          </a:p>
          <a:p>
            <a:r>
              <a:rPr lang="en-US" sz="4000" b="1">
                <a:latin typeface="Times New Roman"/>
                <a:cs typeface="Times New Roman"/>
              </a:rPr>
              <a:t>Conclusion</a:t>
            </a:r>
            <a:endParaRPr lang="en-US" sz="4000">
              <a:latin typeface="Times New Roman"/>
              <a:ea typeface="Calibri"/>
              <a:cs typeface="Times New Roman"/>
            </a:endParaRPr>
          </a:p>
          <a:p>
            <a:pPr marL="457200"/>
            <a:r>
              <a:rPr lang="en-US" sz="4000">
                <a:solidFill>
                  <a:srgbClr val="231F20"/>
                </a:solidFill>
                <a:latin typeface="Times New Roman"/>
                <a:ea typeface="+mn-lt"/>
                <a:cs typeface="+mn-lt"/>
              </a:rPr>
              <a:t>Our work demonstrates significant progress in integrating AI technologies into scientific laboratories. Our achievements in color detection, object recognition, and voice-based navigation illustrate the potential of AI-driven robotics to transform research environments.</a:t>
            </a:r>
            <a:endParaRPr lang="en-US" sz="4000">
              <a:latin typeface="Times New Roman"/>
              <a:ea typeface="+mn-lt"/>
              <a:cs typeface="+mn-lt"/>
            </a:endParaRPr>
          </a:p>
          <a:p>
            <a:pPr>
              <a:buFont typeface="Arial"/>
            </a:pPr>
            <a:endParaRPr lang="en-US" sz="4400">
              <a:solidFill>
                <a:srgbClr val="231F20"/>
              </a:solidFill>
              <a:latin typeface="Calibri"/>
              <a:ea typeface="Calibri"/>
              <a:cs typeface="Calibri"/>
            </a:endParaRPr>
          </a:p>
          <a:p>
            <a:endParaRPr lang="en-US" sz="4400">
              <a:solidFill>
                <a:srgbClr val="231F20"/>
              </a:solidFill>
              <a:latin typeface="Times New Roman"/>
              <a:ea typeface="Calibri"/>
              <a:cs typeface="Calibri"/>
            </a:endParaRPr>
          </a:p>
          <a:p>
            <a:endParaRPr lang="en-US" sz="4400" b="1">
              <a:solidFill>
                <a:srgbClr val="231F20"/>
              </a:solidFill>
              <a:latin typeface="Times New Roman"/>
              <a:cs typeface="Times New Roman"/>
            </a:endParaRPr>
          </a:p>
        </p:txBody>
      </p:sp>
      <p:sp>
        <p:nvSpPr>
          <p:cNvPr id="12" name="TextBox 11">
            <a:extLst>
              <a:ext uri="{FF2B5EF4-FFF2-40B4-BE49-F238E27FC236}">
                <a16:creationId xmlns:a16="http://schemas.microsoft.com/office/drawing/2014/main" id="{87E15E91-9D88-FD73-9527-7D0FA0792993}"/>
              </a:ext>
            </a:extLst>
          </p:cNvPr>
          <p:cNvSpPr txBox="1"/>
          <p:nvPr/>
        </p:nvSpPr>
        <p:spPr>
          <a:xfrm>
            <a:off x="1002238" y="7107920"/>
            <a:ext cx="9751456" cy="87100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latin typeface="Times New Roman"/>
                <a:ea typeface="+mn-lt"/>
                <a:cs typeface="+mn-lt"/>
              </a:rPr>
              <a:t>Laboratory research often faces inefficiencies due to manual tasks like sample collection and data processing. Our project seeks to revolutionize scientific laboratories by integrating AI-driven robotics. By leveraging computer vision and voice recognition, we aim to enhance laboratory workflows, improve accuracy, and accelerate research. This poster highlights our progress in computer vision and voice commands, as well as the exciting possibilities these technologies bring to lab automation. </a:t>
            </a:r>
            <a:endParaRPr lang="en-US" sz="4000">
              <a:latin typeface="Times New Roman"/>
              <a:ea typeface="Calibri"/>
              <a:cs typeface="Calibri"/>
            </a:endParaRPr>
          </a:p>
          <a:p>
            <a:endParaRPr lang="en-US" sz="4000">
              <a:latin typeface="Times New Roman"/>
              <a:cs typeface="Times New Roman"/>
            </a:endParaRPr>
          </a:p>
          <a:p>
            <a:pPr algn="l"/>
            <a:endParaRPr lang="en-US" sz="4000">
              <a:latin typeface="Times New Roman"/>
              <a:ea typeface="Calibri"/>
              <a:cs typeface="Calibri"/>
            </a:endParaRPr>
          </a:p>
        </p:txBody>
      </p:sp>
      <p:pic>
        <p:nvPicPr>
          <p:cNvPr id="18" name="Picture 17" descr="A blue sky with no clouds&#10;&#10;AI-generated content may be incorrect.">
            <a:extLst>
              <a:ext uri="{FF2B5EF4-FFF2-40B4-BE49-F238E27FC236}">
                <a16:creationId xmlns:a16="http://schemas.microsoft.com/office/drawing/2014/main" id="{0F5AE078-69E1-DF62-DBB3-93A5CEBA369A}"/>
              </a:ext>
            </a:extLst>
          </p:cNvPr>
          <p:cNvPicPr>
            <a:picLocks noChangeAspect="1"/>
          </p:cNvPicPr>
          <p:nvPr/>
        </p:nvPicPr>
        <p:blipFill>
          <a:blip r:embed="rId6"/>
          <a:stretch>
            <a:fillRect/>
          </a:stretch>
        </p:blipFill>
        <p:spPr>
          <a:xfrm>
            <a:off x="-12404" y="12311"/>
            <a:ext cx="43932263" cy="5189220"/>
          </a:xfrm>
          <a:prstGeom prst="rect">
            <a:avLst/>
          </a:prstGeom>
        </p:spPr>
      </p:pic>
      <p:pic>
        <p:nvPicPr>
          <p:cNvPr id="6" name="Picture 5">
            <a:extLst>
              <a:ext uri="{FF2B5EF4-FFF2-40B4-BE49-F238E27FC236}">
                <a16:creationId xmlns:a16="http://schemas.microsoft.com/office/drawing/2014/main" id="{93E96C91-A4B3-6158-EB99-798308F3009E}"/>
              </a:ext>
            </a:extLst>
          </p:cNvPr>
          <p:cNvPicPr>
            <a:picLocks noChangeAspect="1"/>
          </p:cNvPicPr>
          <p:nvPr/>
        </p:nvPicPr>
        <p:blipFill>
          <a:blip r:embed="rId7"/>
          <a:stretch>
            <a:fillRect/>
          </a:stretch>
        </p:blipFill>
        <p:spPr>
          <a:xfrm>
            <a:off x="38522557" y="204090"/>
            <a:ext cx="4841497" cy="4841497"/>
          </a:xfrm>
          <a:prstGeom prst="rect">
            <a:avLst/>
          </a:prstGeom>
        </p:spPr>
      </p:pic>
      <p:sp>
        <p:nvSpPr>
          <p:cNvPr id="7" name="object 2">
            <a:extLst>
              <a:ext uri="{FF2B5EF4-FFF2-40B4-BE49-F238E27FC236}">
                <a16:creationId xmlns:a16="http://schemas.microsoft.com/office/drawing/2014/main" id="{913F0F48-EECD-696E-A5FF-B226942426F4}"/>
              </a:ext>
            </a:extLst>
          </p:cNvPr>
          <p:cNvSpPr txBox="1">
            <a:spLocks/>
          </p:cNvSpPr>
          <p:nvPr/>
        </p:nvSpPr>
        <p:spPr>
          <a:xfrm>
            <a:off x="930909" y="442481"/>
            <a:ext cx="34272039" cy="2189331"/>
          </a:xfrm>
          <a:prstGeom prst="rect">
            <a:avLst/>
          </a:prstGeom>
        </p:spPr>
        <p:txBody>
          <a:bodyPr vert="horz" wrap="square" lIns="0" tIns="0" rIns="0" bIns="0" rtlCol="0" anchor="b" anchorCtr="0">
            <a:noAutofit/>
          </a:bodyPr>
          <a:lstStyle>
            <a:lvl1pPr>
              <a:defRPr sz="5000" b="1" i="0">
                <a:solidFill>
                  <a:schemeClr val="bg1"/>
                </a:solidFill>
                <a:latin typeface="Arial"/>
                <a:ea typeface="+mj-ea"/>
                <a:cs typeface="Arial"/>
              </a:defRPr>
            </a:lvl1pPr>
          </a:lstStyle>
          <a:p>
            <a:pPr defTabSz="1828800">
              <a:lnSpc>
                <a:spcPts val="9000"/>
              </a:lnSpc>
              <a:defRPr/>
            </a:pPr>
            <a:r>
              <a:rPr lang="en-US" sz="8800" kern="0">
                <a:solidFill>
                  <a:sysClr val="window" lastClr="FFFFFF"/>
                </a:solidFill>
              </a:rPr>
              <a:t>Revolutionizing Laboratory Automation with AI: Advancements in Computer Vision and Voice Commands</a:t>
            </a:r>
            <a:endParaRPr lang="en-US">
              <a:solidFill>
                <a:sysClr val="window" lastClr="FFFFFF"/>
              </a:solidFill>
            </a:endParaRPr>
          </a:p>
        </p:txBody>
      </p:sp>
      <p:sp>
        <p:nvSpPr>
          <p:cNvPr id="17" name="object 3">
            <a:extLst>
              <a:ext uri="{FF2B5EF4-FFF2-40B4-BE49-F238E27FC236}">
                <a16:creationId xmlns:a16="http://schemas.microsoft.com/office/drawing/2014/main" id="{ED72C59D-D613-CDDE-B48A-5184ED2C7009}"/>
              </a:ext>
            </a:extLst>
          </p:cNvPr>
          <p:cNvSpPr txBox="1"/>
          <p:nvPr/>
        </p:nvSpPr>
        <p:spPr>
          <a:xfrm>
            <a:off x="942108" y="2597364"/>
            <a:ext cx="37902924" cy="2027057"/>
          </a:xfrm>
          <a:prstGeom prst="rect">
            <a:avLst/>
          </a:prstGeom>
        </p:spPr>
        <p:txBody>
          <a:bodyPr vert="horz" wrap="square" lIns="0" tIns="0" rIns="0" bIns="0" rtlCol="0" anchor="t">
            <a:noAutofit/>
          </a:bodyPr>
          <a:lstStyle/>
          <a:p>
            <a:pPr>
              <a:lnSpc>
                <a:spcPts val="5000"/>
              </a:lnSpc>
            </a:pPr>
            <a:r>
              <a:rPr lang="en-US" sz="3600" b="1" spc="-142">
                <a:solidFill>
                  <a:srgbClr val="FFFFFF"/>
                </a:solidFill>
                <a:latin typeface="Arial"/>
                <a:cs typeface="Arial"/>
              </a:rPr>
              <a:t>UG students: Tibian Elsheikh, Omar Mian</a:t>
            </a:r>
          </a:p>
          <a:p>
            <a:pPr>
              <a:lnSpc>
                <a:spcPts val="5000"/>
              </a:lnSpc>
            </a:pPr>
            <a:r>
              <a:rPr lang="en-US" sz="3600" b="1" spc="-142">
                <a:solidFill>
                  <a:srgbClr val="FFFFFF"/>
                </a:solidFill>
                <a:latin typeface="Arial"/>
                <a:cs typeface="Arial"/>
              </a:rPr>
              <a:t>Mentor: Jeremy Reed</a:t>
            </a:r>
          </a:p>
          <a:p>
            <a:pPr>
              <a:lnSpc>
                <a:spcPts val="5000"/>
              </a:lnSpc>
            </a:pPr>
            <a:r>
              <a:rPr lang="en-US" sz="3600" b="1" spc="-142">
                <a:solidFill>
                  <a:srgbClr val="FFFFFF"/>
                </a:solidFill>
                <a:latin typeface="Arial"/>
                <a:cs typeface="Arial"/>
              </a:rPr>
              <a:t>Faculty Advisor: Dr. Turgay Korkmaz</a:t>
            </a:r>
          </a:p>
          <a:p>
            <a:pPr>
              <a:lnSpc>
                <a:spcPts val="5000"/>
              </a:lnSpc>
            </a:pPr>
            <a:r>
              <a:rPr lang="en-US" sz="3600" b="1" i="1" spc="-142">
                <a:solidFill>
                  <a:schemeClr val="accent6">
                    <a:lumMod val="60000"/>
                    <a:lumOff val="40000"/>
                  </a:schemeClr>
                </a:solidFill>
                <a:latin typeface="Arial"/>
                <a:cs typeface="Arial"/>
              </a:rPr>
              <a:t>Computer Science, The University of Texas at San Antonio</a:t>
            </a:r>
          </a:p>
        </p:txBody>
      </p:sp>
      <p:sp>
        <p:nvSpPr>
          <p:cNvPr id="19" name="TextBox 18">
            <a:extLst>
              <a:ext uri="{FF2B5EF4-FFF2-40B4-BE49-F238E27FC236}">
                <a16:creationId xmlns:a16="http://schemas.microsoft.com/office/drawing/2014/main" id="{C3856723-8AF2-CACA-180B-3E5C6F818224}"/>
              </a:ext>
            </a:extLst>
          </p:cNvPr>
          <p:cNvSpPr txBox="1"/>
          <p:nvPr/>
        </p:nvSpPr>
        <p:spPr>
          <a:xfrm>
            <a:off x="32749587" y="27493088"/>
            <a:ext cx="10635175" cy="38779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i="1">
                <a:solidFill>
                  <a:srgbClr val="231F20"/>
                </a:solidFill>
                <a:latin typeface="Times New Roman"/>
                <a:cs typeface="Times New Roman"/>
              </a:rPr>
              <a:t>Acknowledgement</a:t>
            </a:r>
            <a:r>
              <a:rPr lang="en-US" sz="3200" i="1">
                <a:solidFill>
                  <a:srgbClr val="231F20"/>
                </a:solidFill>
                <a:latin typeface="Times New Roman"/>
                <a:cs typeface="Times New Roman"/>
              </a:rPr>
              <a:t>: This material is based upon work supported by the U.S. Department of Energy, Office of Science, Office of Advanced Scientific Computing Research (ASCR), Reaching a New Energy Sciences Workforce (RENEW) under Award Number DE-SC0024322.</a:t>
            </a:r>
            <a:endParaRPr lang="en-US" sz="3200">
              <a:latin typeface="Times New Roman"/>
              <a:cs typeface="Times New Roman"/>
            </a:endParaRPr>
          </a:p>
          <a:p>
            <a:pPr algn="l"/>
            <a:endParaRPr lang="en-US">
              <a:ea typeface="Calibri"/>
              <a:cs typeface="Calibri"/>
            </a:endParaRPr>
          </a:p>
        </p:txBody>
      </p:sp>
      <p:pic>
        <p:nvPicPr>
          <p:cNvPr id="20" name="Picture 19" descr="File:UTSA Logo.svg - Wikimedia Commons">
            <a:extLst>
              <a:ext uri="{FF2B5EF4-FFF2-40B4-BE49-F238E27FC236}">
                <a16:creationId xmlns:a16="http://schemas.microsoft.com/office/drawing/2014/main" id="{198004FF-555B-6C5E-8CC8-0A0F59476306}"/>
              </a:ext>
            </a:extLst>
          </p:cNvPr>
          <p:cNvPicPr>
            <a:picLocks noChangeAspect="1"/>
          </p:cNvPicPr>
          <p:nvPr/>
        </p:nvPicPr>
        <p:blipFill>
          <a:blip r:embed="rId8"/>
          <a:stretch>
            <a:fillRect/>
          </a:stretch>
        </p:blipFill>
        <p:spPr>
          <a:xfrm>
            <a:off x="33678056" y="3427269"/>
            <a:ext cx="4389119" cy="1480569"/>
          </a:xfrm>
          <a:prstGeom prst="rect">
            <a:avLst/>
          </a:prstGeom>
        </p:spPr>
      </p:pic>
      <p:pic>
        <p:nvPicPr>
          <p:cNvPr id="23" name="Picture 22" descr="A collage of a robot&#10;&#10;AI-generated content may be incorrect.">
            <a:extLst>
              <a:ext uri="{FF2B5EF4-FFF2-40B4-BE49-F238E27FC236}">
                <a16:creationId xmlns:a16="http://schemas.microsoft.com/office/drawing/2014/main" id="{B3FAD84D-9211-90C0-C387-45C7D4EDC4EF}"/>
              </a:ext>
            </a:extLst>
          </p:cNvPr>
          <p:cNvPicPr>
            <a:picLocks noChangeAspect="1"/>
          </p:cNvPicPr>
          <p:nvPr/>
        </p:nvPicPr>
        <p:blipFill>
          <a:blip r:embed="rId9"/>
          <a:stretch>
            <a:fillRect/>
          </a:stretch>
        </p:blipFill>
        <p:spPr>
          <a:xfrm>
            <a:off x="32693904" y="20223005"/>
            <a:ext cx="11168873" cy="6869704"/>
          </a:xfrm>
          <a:prstGeom prst="rect">
            <a:avLst/>
          </a:prstGeom>
        </p:spPr>
      </p:pic>
      <p:pic>
        <p:nvPicPr>
          <p:cNvPr id="25" name="Picture 24" descr="A close-up of a carpet&#10;&#10;AI-generated content may be incorrect.">
            <a:extLst>
              <a:ext uri="{FF2B5EF4-FFF2-40B4-BE49-F238E27FC236}">
                <a16:creationId xmlns:a16="http://schemas.microsoft.com/office/drawing/2014/main" id="{C3F3EBAC-C566-464A-ED39-9C9187D75134}"/>
              </a:ext>
            </a:extLst>
          </p:cNvPr>
          <p:cNvPicPr>
            <a:picLocks noChangeAspect="1"/>
          </p:cNvPicPr>
          <p:nvPr/>
        </p:nvPicPr>
        <p:blipFill>
          <a:blip r:embed="rId10"/>
          <a:stretch>
            <a:fillRect/>
          </a:stretch>
        </p:blipFill>
        <p:spPr>
          <a:xfrm>
            <a:off x="22529877" y="12598907"/>
            <a:ext cx="9300027" cy="5055420"/>
          </a:xfrm>
          <a:prstGeom prst="rect">
            <a:avLst/>
          </a:prstGeom>
        </p:spPr>
      </p:pic>
      <p:pic>
        <p:nvPicPr>
          <p:cNvPr id="26" name="Picture 25" descr="A diagram of a data flow&#10;&#10;AI-generated content may be incorrect.">
            <a:extLst>
              <a:ext uri="{FF2B5EF4-FFF2-40B4-BE49-F238E27FC236}">
                <a16:creationId xmlns:a16="http://schemas.microsoft.com/office/drawing/2014/main" id="{01B3A3A2-C34B-3DA9-F0EC-98AD903D1B45}"/>
              </a:ext>
            </a:extLst>
          </p:cNvPr>
          <p:cNvPicPr>
            <a:picLocks noChangeAspect="1"/>
          </p:cNvPicPr>
          <p:nvPr/>
        </p:nvPicPr>
        <p:blipFill>
          <a:blip r:embed="rId11"/>
          <a:stretch>
            <a:fillRect/>
          </a:stretch>
        </p:blipFill>
        <p:spPr>
          <a:xfrm>
            <a:off x="22175326" y="27463701"/>
            <a:ext cx="9982912" cy="4460835"/>
          </a:xfrm>
          <a:prstGeom prst="rect">
            <a:avLst/>
          </a:prstGeom>
        </p:spPr>
      </p:pic>
      <p:pic>
        <p:nvPicPr>
          <p:cNvPr id="27" name="Picture 26" descr="A diagram of a diagram&#10;&#10;AI-generated content may be incorrect.">
            <a:extLst>
              <a:ext uri="{FF2B5EF4-FFF2-40B4-BE49-F238E27FC236}">
                <a16:creationId xmlns:a16="http://schemas.microsoft.com/office/drawing/2014/main" id="{A954123B-A8A5-809A-B6DC-A26CB0F9853C}"/>
              </a:ext>
            </a:extLst>
          </p:cNvPr>
          <p:cNvPicPr>
            <a:picLocks noChangeAspect="1"/>
          </p:cNvPicPr>
          <p:nvPr/>
        </p:nvPicPr>
        <p:blipFill>
          <a:blip r:embed="rId12"/>
          <a:stretch>
            <a:fillRect/>
          </a:stretch>
        </p:blipFill>
        <p:spPr>
          <a:xfrm>
            <a:off x="11606074" y="24756572"/>
            <a:ext cx="10086560" cy="6349448"/>
          </a:xfrm>
          <a:prstGeom prst="rect">
            <a:avLst/>
          </a:prstGeom>
        </p:spPr>
      </p:pic>
      <p:pic>
        <p:nvPicPr>
          <p:cNvPr id="28" name="Picture 27" descr="A computer screen shot of a keyboard and a cell phone&#10;&#10;AI-generated content may be incorrect.">
            <a:extLst>
              <a:ext uri="{FF2B5EF4-FFF2-40B4-BE49-F238E27FC236}">
                <a16:creationId xmlns:a16="http://schemas.microsoft.com/office/drawing/2014/main" id="{08B71687-DC7C-4C7F-E336-1CD31770B081}"/>
              </a:ext>
            </a:extLst>
          </p:cNvPr>
          <p:cNvPicPr>
            <a:picLocks noChangeAspect="1"/>
          </p:cNvPicPr>
          <p:nvPr/>
        </p:nvPicPr>
        <p:blipFill>
          <a:blip r:embed="rId13"/>
          <a:stretch>
            <a:fillRect/>
          </a:stretch>
        </p:blipFill>
        <p:spPr>
          <a:xfrm>
            <a:off x="11629764" y="10984055"/>
            <a:ext cx="9792032" cy="5481230"/>
          </a:xfrm>
          <a:prstGeom prst="rect">
            <a:avLst/>
          </a:prstGeom>
        </p:spPr>
      </p:pic>
    </p:spTree>
    <p:extLst>
      <p:ext uri="{BB962C8B-B14F-4D97-AF65-F5344CB8AC3E}">
        <p14:creationId xmlns:p14="http://schemas.microsoft.com/office/powerpoint/2010/main" val="1007224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Balentine</dc:creator>
  <cp:revision>2</cp:revision>
  <dcterms:created xsi:type="dcterms:W3CDTF">2018-03-07T15:08:45Z</dcterms:created>
  <dcterms:modified xsi:type="dcterms:W3CDTF">2025-01-29T00:52:16Z</dcterms:modified>
</cp:coreProperties>
</file>